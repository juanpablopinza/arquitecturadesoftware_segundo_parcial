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46" r:id="rId10"/>
    <p:sldId id="348" r:id="rId11"/>
    <p:sldId id="349" r:id="rId12"/>
    <p:sldId id="347" r:id="rId13"/>
    <p:sldId id="350" r:id="rId14"/>
    <p:sldId id="351" r:id="rId15"/>
    <p:sldId id="352" r:id="rId16"/>
    <p:sldId id="353" r:id="rId17"/>
    <p:sldId id="354" r:id="rId18"/>
    <p:sldId id="355" r:id="rId19"/>
    <p:sldId id="265" r:id="rId20"/>
    <p:sldId id="266" r:id="rId21"/>
    <p:sldId id="267" r:id="rId22"/>
    <p:sldId id="268" r:id="rId23"/>
    <p:sldId id="356" r:id="rId24"/>
    <p:sldId id="269" r:id="rId25"/>
    <p:sldId id="270" r:id="rId26"/>
    <p:sldId id="271" r:id="rId27"/>
    <p:sldId id="272" r:id="rId28"/>
    <p:sldId id="273" r:id="rId29"/>
    <p:sldId id="275" r:id="rId30"/>
    <p:sldId id="276" r:id="rId31"/>
    <p:sldId id="277" r:id="rId32"/>
    <p:sldId id="278" r:id="rId33"/>
    <p:sldId id="279" r:id="rId34"/>
    <p:sldId id="357" r:id="rId35"/>
    <p:sldId id="358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20" r:id="rId57"/>
    <p:sldId id="321" r:id="rId58"/>
    <p:sldId id="322" r:id="rId59"/>
    <p:sldId id="323" r:id="rId60"/>
    <p:sldId id="324" r:id="rId61"/>
    <p:sldId id="325" r:id="rId62"/>
    <p:sldId id="326" r:id="rId63"/>
    <p:sldId id="327" r:id="rId64"/>
    <p:sldId id="328" r:id="rId65"/>
    <p:sldId id="329" r:id="rId66"/>
    <p:sldId id="333" r:id="rId67"/>
    <p:sldId id="334" r:id="rId68"/>
    <p:sldId id="335" r:id="rId69"/>
    <p:sldId id="336" r:id="rId70"/>
    <p:sldId id="337" r:id="rId71"/>
    <p:sldId id="338" r:id="rId72"/>
    <p:sldId id="339" r:id="rId73"/>
    <p:sldId id="340" r:id="rId74"/>
    <p:sldId id="341" r:id="rId75"/>
    <p:sldId id="342" r:id="rId76"/>
    <p:sldId id="344" r:id="rId77"/>
    <p:sldId id="345" r:id="rId78"/>
  </p:sldIdLst>
  <p:sldSz cx="12192000" cy="6858000"/>
  <p:notesSz cx="6858000" cy="9144000"/>
  <p:embeddedFontLst>
    <p:embeddedFont>
      <p:font typeface="Gill Sans" panose="020B0604020202020204" charset="0"/>
      <p:regular r:id="rId80"/>
      <p:bold r:id="rId8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8" roundtripDataSignature="AMtx7mgVdFu41hN/1iOj6aVQC0dAqJQn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C02D92-EB61-4233-A5F8-FC8B1682F09E}">
  <a:tblStyle styleId="{44C02D92-EB61-4233-A5F8-FC8B1682F0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1.fntdata"/><Relationship Id="rId98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font" Target="fonts/font2.fntdata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5752edde4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a5752edde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5752edde4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a5752edde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591f79c51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a591f79c5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5752edde4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a5752edde4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0C6F6610-118A-A8B7-3A82-DA9492EBF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5752edde4_0_59:notes">
            <a:extLst>
              <a:ext uri="{FF2B5EF4-FFF2-40B4-BE49-F238E27FC236}">
                <a16:creationId xmlns:a16="http://schemas.microsoft.com/office/drawing/2014/main" id="{64DC04A9-3050-C22E-6ECA-E4098CDD53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a5752edde4_0_59:notes">
            <a:extLst>
              <a:ext uri="{FF2B5EF4-FFF2-40B4-BE49-F238E27FC236}">
                <a16:creationId xmlns:a16="http://schemas.microsoft.com/office/drawing/2014/main" id="{EBCBC097-BDED-7A40-0A7D-535212889E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7800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CEE20238-FE4D-A253-D17F-4ADCF4F3E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5752edde4_0_59:notes">
            <a:extLst>
              <a:ext uri="{FF2B5EF4-FFF2-40B4-BE49-F238E27FC236}">
                <a16:creationId xmlns:a16="http://schemas.microsoft.com/office/drawing/2014/main" id="{77A3CBD0-1371-8CCA-CDE3-4F419F30B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a5752edde4_0_59:notes">
            <a:extLst>
              <a:ext uri="{FF2B5EF4-FFF2-40B4-BE49-F238E27FC236}">
                <a16:creationId xmlns:a16="http://schemas.microsoft.com/office/drawing/2014/main" id="{F92AA569-5D2B-946E-9439-B3FC9D202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2080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88209FDE-9B6F-8ACF-8329-2E9D5A82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5752edde4_0_59:notes">
            <a:extLst>
              <a:ext uri="{FF2B5EF4-FFF2-40B4-BE49-F238E27FC236}">
                <a16:creationId xmlns:a16="http://schemas.microsoft.com/office/drawing/2014/main" id="{96C5D666-3A3F-1DDC-3E3D-CF1F559984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a5752edde4_0_59:notes">
            <a:extLst>
              <a:ext uri="{FF2B5EF4-FFF2-40B4-BE49-F238E27FC236}">
                <a16:creationId xmlns:a16="http://schemas.microsoft.com/office/drawing/2014/main" id="{54134B3A-5760-7178-5550-22E7251B20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14668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021005A8-2A22-99DD-3BE0-3357C586F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5752edde4_0_59:notes">
            <a:extLst>
              <a:ext uri="{FF2B5EF4-FFF2-40B4-BE49-F238E27FC236}">
                <a16:creationId xmlns:a16="http://schemas.microsoft.com/office/drawing/2014/main" id="{DA25B1BE-E426-4A03-B65A-7591483E4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a5752edde4_0_59:notes">
            <a:extLst>
              <a:ext uri="{FF2B5EF4-FFF2-40B4-BE49-F238E27FC236}">
                <a16:creationId xmlns:a16="http://schemas.microsoft.com/office/drawing/2014/main" id="{3CA0FD26-4D95-9608-13A1-119C3B8522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4364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ADAE6177-E826-C12C-405C-AF0061FF7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5752edde4_0_59:notes">
            <a:extLst>
              <a:ext uri="{FF2B5EF4-FFF2-40B4-BE49-F238E27FC236}">
                <a16:creationId xmlns:a16="http://schemas.microsoft.com/office/drawing/2014/main" id="{AA863E54-3FDC-5183-6A05-18DD5348D2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a5752edde4_0_59:notes">
            <a:extLst>
              <a:ext uri="{FF2B5EF4-FFF2-40B4-BE49-F238E27FC236}">
                <a16:creationId xmlns:a16="http://schemas.microsoft.com/office/drawing/2014/main" id="{8B23686E-0B29-DE8E-BDED-875189BB8A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613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922120C2-B706-C95D-63DE-7B57DE553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5752edde4_0_59:notes">
            <a:extLst>
              <a:ext uri="{FF2B5EF4-FFF2-40B4-BE49-F238E27FC236}">
                <a16:creationId xmlns:a16="http://schemas.microsoft.com/office/drawing/2014/main" id="{A65D558D-C629-D14F-2B12-834D6E390C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a5752edde4_0_59:notes">
            <a:extLst>
              <a:ext uri="{FF2B5EF4-FFF2-40B4-BE49-F238E27FC236}">
                <a16:creationId xmlns:a16="http://schemas.microsoft.com/office/drawing/2014/main" id="{82F5C76D-F838-F69E-BB83-9EE1B39FFA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62696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0A7D4363-D605-05C8-DAF1-A0D69E742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0f888782f_0_0:notes">
            <a:extLst>
              <a:ext uri="{FF2B5EF4-FFF2-40B4-BE49-F238E27FC236}">
                <a16:creationId xmlns:a16="http://schemas.microsoft.com/office/drawing/2014/main" id="{63D3BEDE-29C6-F042-E157-45EA4E998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90f888782f_0_0:notes">
            <a:extLst>
              <a:ext uri="{FF2B5EF4-FFF2-40B4-BE49-F238E27FC236}">
                <a16:creationId xmlns:a16="http://schemas.microsoft.com/office/drawing/2014/main" id="{1B562615-0B81-46B2-3AF3-6A7CDB5E0A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225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3752AD54-8C59-64AC-C929-2A54B5F39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0f888782f_0_0:notes">
            <a:extLst>
              <a:ext uri="{FF2B5EF4-FFF2-40B4-BE49-F238E27FC236}">
                <a16:creationId xmlns:a16="http://schemas.microsoft.com/office/drawing/2014/main" id="{2E097225-1FF0-D03C-CCF7-3F210FC1F7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90f888782f_0_0:notes">
            <a:extLst>
              <a:ext uri="{FF2B5EF4-FFF2-40B4-BE49-F238E27FC236}">
                <a16:creationId xmlns:a16="http://schemas.microsoft.com/office/drawing/2014/main" id="{92BB4D7A-4211-6C51-9E8E-76B708411A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80736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2AF6D4F6-E9D1-936F-CE3D-F0380979C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0f888782f_0_0:notes">
            <a:extLst>
              <a:ext uri="{FF2B5EF4-FFF2-40B4-BE49-F238E27FC236}">
                <a16:creationId xmlns:a16="http://schemas.microsoft.com/office/drawing/2014/main" id="{0C436802-7196-5BA2-742A-B751CA335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90f888782f_0_0:notes">
            <a:extLst>
              <a:ext uri="{FF2B5EF4-FFF2-40B4-BE49-F238E27FC236}">
                <a16:creationId xmlns:a16="http://schemas.microsoft.com/office/drawing/2014/main" id="{37F34283-7AD7-0D66-F1F1-179518E66F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82612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39C16568-6279-BCD1-74C7-0F51DB7C4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0f888782f_0_0:notes">
            <a:extLst>
              <a:ext uri="{FF2B5EF4-FFF2-40B4-BE49-F238E27FC236}">
                <a16:creationId xmlns:a16="http://schemas.microsoft.com/office/drawing/2014/main" id="{CEEA082B-5132-D191-F776-F560173F24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90f888782f_0_0:notes">
            <a:extLst>
              <a:ext uri="{FF2B5EF4-FFF2-40B4-BE49-F238E27FC236}">
                <a16:creationId xmlns:a16="http://schemas.microsoft.com/office/drawing/2014/main" id="{99F5B47D-7C72-6F3F-240E-59229FB508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507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5752edde4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a5752edde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5752edde4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a5752edde4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5752edde4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a5752edde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5752edde4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a5752edde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CA9F2F94-BA45-510E-C8FC-175AC0CB2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5752edde4_0_41:notes">
            <a:extLst>
              <a:ext uri="{FF2B5EF4-FFF2-40B4-BE49-F238E27FC236}">
                <a16:creationId xmlns:a16="http://schemas.microsoft.com/office/drawing/2014/main" id="{C35ACEB4-0E57-5A5B-D901-D343C8EFAD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a5752edde4_0_41:notes">
            <a:extLst>
              <a:ext uri="{FF2B5EF4-FFF2-40B4-BE49-F238E27FC236}">
                <a16:creationId xmlns:a16="http://schemas.microsoft.com/office/drawing/2014/main" id="{D0176613-07ED-6655-6D4B-8089BB2DFE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62800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591f79c51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a591f79c5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591f79c51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g3a591f79c51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591f79c51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3a591f79c5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591f79c51_0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g3a591f79c51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591f79c51_0_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3a591f79c5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591f79c51_0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a591f79c51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8C53C859-54E7-1D2E-7ED8-C3CFADD5F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591f79c51_0_82:notes">
            <a:extLst>
              <a:ext uri="{FF2B5EF4-FFF2-40B4-BE49-F238E27FC236}">
                <a16:creationId xmlns:a16="http://schemas.microsoft.com/office/drawing/2014/main" id="{72C7BFA9-F84C-B9EB-D39E-75AA441DEF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a591f79c51_0_82:notes">
            <a:extLst>
              <a:ext uri="{FF2B5EF4-FFF2-40B4-BE49-F238E27FC236}">
                <a16:creationId xmlns:a16="http://schemas.microsoft.com/office/drawing/2014/main" id="{46BA1A29-C711-3AA0-D6CA-229542F9D4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30988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>
          <a:extLst>
            <a:ext uri="{FF2B5EF4-FFF2-40B4-BE49-F238E27FC236}">
              <a16:creationId xmlns:a16="http://schemas.microsoft.com/office/drawing/2014/main" id="{9AE91A58-416C-C4E6-396A-81B21D95D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591f79c51_0_82:notes">
            <a:extLst>
              <a:ext uri="{FF2B5EF4-FFF2-40B4-BE49-F238E27FC236}">
                <a16:creationId xmlns:a16="http://schemas.microsoft.com/office/drawing/2014/main" id="{89401479-1793-A75C-1486-B6253DB80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a591f79c51_0_82:notes">
            <a:extLst>
              <a:ext uri="{FF2B5EF4-FFF2-40B4-BE49-F238E27FC236}">
                <a16:creationId xmlns:a16="http://schemas.microsoft.com/office/drawing/2014/main" id="{31D27254-E679-894C-9008-32F3868676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95638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a591f79c51_0_2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g3a591f79c51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591f79c51_0_3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g3a591f79c51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a591f79c51_0_3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g3a591f79c51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653964955_0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3a653964955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653964955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g3a653964955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653964955_0_1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g3a653964955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a653964955_0_1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g3a653964955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a653964955_0_5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g3a653964955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a65396495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g3a6539649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a653964955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g3a65396495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a653964955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g3a65396495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a653964955_0_3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g3a653964955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a653964955_0_3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g3a653964955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a653964955_0_3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g3a653964955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a653964955_0_3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g3a653964955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a653964955_0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g3a653964955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a653964955_0_5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g3a653964955_0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653964955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g3a653964955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a653964955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g3a653964955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a653964955_0_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g3a65396495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a653964955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g3a653964955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a653964955_0_4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g3a653964955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a653964955_0_4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g3a653964955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a653964955_0_4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g3a653964955_0_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a653964955_0_4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g3a653964955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a653964955_0_4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g3a653964955_0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a653964955_0_5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g3a653964955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a653964955_0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g3a653964955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a653964955_0_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g3a653964955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a653964955_0_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g3a653964955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a653964955_0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g3a653964955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a653964955_0_4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g3a653964955_0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a653964955_0_4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g3a653964955_0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a653964955_0_4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g3a653964955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a653964955_0_5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g3a653964955_0_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a653964955_0_5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g3a653964955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a653964955_0_7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g3a653964955_0_7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9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9" name="Google Shape;29;p4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4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3" name="Google Shape;43;p4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4" name="Google Shape;44;p4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4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2" name="Google Shape;52;p4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4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4" name="Google Shape;54;p4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61" name="Google Shape;61;p4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4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4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5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5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6" name="Google Shape;86;p5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93" name="Google Shape;93;p5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5" name="Google Shape;15;p4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4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4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>
            <a:spLocks noGrp="1"/>
          </p:cNvSpPr>
          <p:nvPr>
            <p:ph type="ctrTitle"/>
          </p:nvPr>
        </p:nvSpPr>
        <p:spPr>
          <a:xfrm>
            <a:off x="517945" y="3608618"/>
            <a:ext cx="10993549" cy="678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MX" dirty="0">
                <a:solidFill>
                  <a:schemeClr val="lt1"/>
                </a:solidFill>
              </a:rPr>
              <a:t>EUREKABANK BDD NUBE REST DOTNET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1" name="Google Shape;101;p1"/>
          <p:cNvSpPr txBox="1">
            <a:spLocks noGrp="1"/>
          </p:cNvSpPr>
          <p:nvPr>
            <p:ph type="subTitle" idx="1"/>
          </p:nvPr>
        </p:nvSpPr>
        <p:spPr>
          <a:xfrm>
            <a:off x="599226" y="5149400"/>
            <a:ext cx="4734774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65577"/>
              <a:buNone/>
            </a:pPr>
            <a:r>
              <a:rPr lang="es-ES" sz="2244" b="1" dirty="0">
                <a:solidFill>
                  <a:schemeClr val="lt1"/>
                </a:solidFill>
              </a:rPr>
              <a:t>INTEGRANTES: 	           ARGUELLO JOEL</a:t>
            </a:r>
            <a:endParaRPr sz="2244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872"/>
              </a:spcBef>
              <a:spcAft>
                <a:spcPts val="0"/>
              </a:spcAft>
              <a:buSzPct val="65577"/>
              <a:buNone/>
            </a:pPr>
            <a:r>
              <a:rPr lang="es-ES" sz="2244" dirty="0">
                <a:solidFill>
                  <a:schemeClr val="lt1"/>
                </a:solidFill>
              </a:rPr>
              <a:t>		          CARRERA NAHIR</a:t>
            </a:r>
            <a:endParaRPr sz="2244" dirty="0"/>
          </a:p>
          <a:p>
            <a:pPr marL="0" lvl="0" indent="0" algn="l" rtl="0">
              <a:spcBef>
                <a:spcPts val="872"/>
              </a:spcBef>
              <a:spcAft>
                <a:spcPts val="0"/>
              </a:spcAft>
              <a:buSzPct val="65577"/>
              <a:buNone/>
            </a:pPr>
            <a:r>
              <a:rPr lang="es-ES" sz="2244" dirty="0">
                <a:solidFill>
                  <a:schemeClr val="lt1"/>
                </a:solidFill>
              </a:rPr>
              <a:t>	</a:t>
            </a:r>
            <a:r>
              <a:rPr lang="es-ES" sz="2244">
                <a:solidFill>
                  <a:schemeClr val="lt1"/>
                </a:solidFill>
              </a:rPr>
              <a:t>	          PINZA </a:t>
            </a:r>
            <a:r>
              <a:rPr lang="es-ES" sz="2244" dirty="0">
                <a:solidFill>
                  <a:schemeClr val="lt1"/>
                </a:solidFill>
              </a:rPr>
              <a:t>JUAN PABLO</a:t>
            </a:r>
            <a:endParaRPr sz="2244" dirty="0"/>
          </a:p>
          <a:p>
            <a:pPr marL="0" lvl="0" indent="0" algn="l" rtl="0">
              <a:spcBef>
                <a:spcPts val="872"/>
              </a:spcBef>
              <a:spcAft>
                <a:spcPts val="0"/>
              </a:spcAft>
              <a:buSzPct val="92000"/>
              <a:buNone/>
            </a:pPr>
            <a:r>
              <a:rPr lang="es-ES" dirty="0">
                <a:solidFill>
                  <a:schemeClr val="lt1"/>
                </a:solidFill>
              </a:rPr>
              <a:t>			      </a:t>
            </a:r>
            <a:endParaRPr dirty="0"/>
          </a:p>
          <a:p>
            <a:pPr marL="0" lvl="0" indent="0" algn="l" rtl="0">
              <a:spcBef>
                <a:spcPts val="872"/>
              </a:spcBef>
              <a:spcAft>
                <a:spcPts val="0"/>
              </a:spcAft>
              <a:buSzPct val="92000"/>
              <a:buNone/>
            </a:pPr>
            <a:endParaRPr dirty="0">
              <a:solidFill>
                <a:schemeClr val="lt1"/>
              </a:solidFill>
            </a:endParaRPr>
          </a:p>
        </p:txBody>
      </p:sp>
      <p:pic>
        <p:nvPicPr>
          <p:cNvPr id="102" name="Google Shape;102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 txBox="1"/>
          <p:nvPr/>
        </p:nvSpPr>
        <p:spPr>
          <a:xfrm>
            <a:off x="7874427" y="5149400"/>
            <a:ext cx="3718347" cy="1324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NRC:	</a:t>
            </a:r>
            <a:r>
              <a:rPr lang="es-ES" sz="16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29783</a:t>
            </a:r>
            <a:endParaRPr dirty="0"/>
          </a:p>
          <a:p>
            <a:pPr marL="0" marR="0" lvl="0" indent="0" algn="l" rtl="0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FECHA:	10/1</a:t>
            </a:r>
            <a:r>
              <a:rPr lang="es-ES" sz="16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s-ES" sz="16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/202</a:t>
            </a:r>
            <a:r>
              <a:rPr lang="es-ES" sz="16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 dirty="0"/>
          </a:p>
          <a:p>
            <a:pPr marL="0" marR="0" lvl="0" indent="0" algn="l" rtl="0">
              <a:spcBef>
                <a:spcPts val="9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TUTOR:	</a:t>
            </a:r>
            <a:r>
              <a:rPr lang="es-ES" sz="1600" b="0" i="0" u="none" strike="noStrike" cap="none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ING. MAURICIO CAMPAÑA</a:t>
            </a:r>
            <a:endParaRPr sz="1600" b="1" i="0" u="none" strike="noStrike" cap="none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442377" y="631821"/>
            <a:ext cx="3707476" cy="5594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lvl="0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◼"/>
            </a:pPr>
            <a:r>
              <a:rPr lang="es-ES" sz="900" b="1" dirty="0">
                <a:solidFill>
                  <a:schemeClr val="lt1"/>
                </a:solidFill>
              </a:rPr>
              <a:t>ESTRUCTURA DE PROYECTO</a:t>
            </a:r>
            <a:endParaRPr sz="9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lvl="0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◼"/>
            </a:pPr>
            <a:r>
              <a:rPr lang="es-ES" sz="900" b="1" dirty="0">
                <a:solidFill>
                  <a:schemeClr val="lt1"/>
                </a:solidFill>
              </a:rPr>
              <a:t>DIAGRAMAS</a:t>
            </a:r>
            <a:endParaRPr sz="900" b="1" dirty="0">
              <a:solidFill>
                <a:schemeClr val="lt1"/>
              </a:solidFill>
            </a:endParaRPr>
          </a:p>
          <a:p>
            <a:pPr marL="306000" lvl="0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b="1" dirty="0">
                <a:solidFill>
                  <a:schemeClr val="lt1"/>
                </a:solidFill>
              </a:rPr>
              <a:t>CREACIÓN BASE DE DATOS</a:t>
            </a:r>
            <a:endParaRPr sz="900" b="1" dirty="0">
              <a:solidFill>
                <a:schemeClr val="lt1"/>
              </a:solidFill>
            </a:endParaRPr>
          </a:p>
          <a:p>
            <a:pPr marL="306000" lvl="0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b="1" dirty="0">
                <a:solidFill>
                  <a:schemeClr val="lt1"/>
                </a:solidFill>
              </a:rPr>
              <a:t>APLICACIÓN SERVIDOR EUREKABANK</a:t>
            </a:r>
            <a:endParaRPr sz="900" b="1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CREACIÓN PROYECTO</a:t>
            </a:r>
            <a:endParaRPr sz="900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CONEXIÓN BDD</a:t>
            </a:r>
            <a:endParaRPr sz="900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ESTRUCTURA DEL PROYECTO</a:t>
            </a:r>
            <a:endParaRPr sz="900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CREACIÓN DE CLASES</a:t>
            </a:r>
            <a:endParaRPr sz="900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PRUEBAS</a:t>
            </a:r>
            <a:endParaRPr sz="900" dirty="0">
              <a:solidFill>
                <a:schemeClr val="lt1"/>
              </a:solidFill>
            </a:endParaRPr>
          </a:p>
          <a:p>
            <a:pPr marL="306000" lvl="0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b="1" dirty="0">
                <a:solidFill>
                  <a:schemeClr val="lt1"/>
                </a:solidFill>
              </a:rPr>
              <a:t>APLICACIÓN CONSOLA</a:t>
            </a:r>
            <a:endParaRPr sz="900" b="1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CREACIÓN PROYECTO</a:t>
            </a:r>
            <a:endParaRPr sz="900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ESTRUCTURA DEL PROYECTO</a:t>
            </a:r>
            <a:endParaRPr sz="900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CREACIÓN DE CLASES</a:t>
            </a:r>
            <a:endParaRPr sz="900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PRUEBAS</a:t>
            </a:r>
            <a:endParaRPr sz="900" dirty="0">
              <a:solidFill>
                <a:schemeClr val="lt1"/>
              </a:solidFill>
            </a:endParaRPr>
          </a:p>
          <a:p>
            <a:pPr marL="306000" lvl="0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b="1" dirty="0">
                <a:solidFill>
                  <a:schemeClr val="lt1"/>
                </a:solidFill>
              </a:rPr>
              <a:t>APLICACIÓN ESCRITORIO</a:t>
            </a:r>
            <a:endParaRPr sz="900" b="1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CREACIÓN PROYECTO</a:t>
            </a:r>
            <a:endParaRPr sz="900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ESTRUCTURA DEL PROYECTO</a:t>
            </a:r>
            <a:endParaRPr sz="900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CREACIÓN DE CLASES</a:t>
            </a:r>
            <a:endParaRPr sz="900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PRUEBAS</a:t>
            </a:r>
            <a:endParaRPr sz="900" dirty="0">
              <a:solidFill>
                <a:schemeClr val="lt1"/>
              </a:solidFill>
            </a:endParaRPr>
          </a:p>
          <a:p>
            <a:pPr marL="306000" lvl="0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b="1" dirty="0">
                <a:solidFill>
                  <a:schemeClr val="lt1"/>
                </a:solidFill>
              </a:rPr>
              <a:t>APLICACIÓN WEB</a:t>
            </a:r>
            <a:endParaRPr sz="900" b="1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CREACIÓN PROYECTO</a:t>
            </a:r>
            <a:endParaRPr sz="900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ESTRUCTURA DEL PROYECTO</a:t>
            </a:r>
            <a:endParaRPr sz="900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CREACIÓN DE CLASES</a:t>
            </a:r>
            <a:endParaRPr sz="900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PRUEBAS</a:t>
            </a:r>
            <a:endParaRPr sz="900" dirty="0">
              <a:solidFill>
                <a:schemeClr val="lt1"/>
              </a:solidFill>
            </a:endParaRPr>
          </a:p>
          <a:p>
            <a:pPr marL="306000" lvl="0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b="1" dirty="0">
                <a:solidFill>
                  <a:schemeClr val="lt1"/>
                </a:solidFill>
              </a:rPr>
              <a:t>APLICACIÓN MÓVIL</a:t>
            </a:r>
            <a:endParaRPr sz="900" b="1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CREACIÓN PROYECTO</a:t>
            </a:r>
            <a:endParaRPr sz="900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ESTRUCTURA DEL PROYECTO</a:t>
            </a:r>
            <a:endParaRPr sz="900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CREACIÓN DE CLASES</a:t>
            </a:r>
            <a:endParaRPr sz="900" dirty="0">
              <a:solidFill>
                <a:schemeClr val="lt1"/>
              </a:solidFill>
            </a:endParaRPr>
          </a:p>
          <a:p>
            <a:pPr marL="630000" lvl="1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dirty="0">
                <a:solidFill>
                  <a:schemeClr val="lt1"/>
                </a:solidFill>
              </a:rPr>
              <a:t>PRUEBAS</a:t>
            </a:r>
            <a:endParaRPr sz="900" dirty="0">
              <a:solidFill>
                <a:schemeClr val="lt1"/>
              </a:solidFill>
            </a:endParaRPr>
          </a:p>
          <a:p>
            <a:pPr marL="306000" lvl="0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b="1" dirty="0">
                <a:solidFill>
                  <a:schemeClr val="lt1"/>
                </a:solidFill>
              </a:rPr>
              <a:t>CONCLUSIONES</a:t>
            </a:r>
            <a:endParaRPr sz="900" b="1" dirty="0">
              <a:solidFill>
                <a:schemeClr val="lt1"/>
              </a:solidFill>
            </a:endParaRPr>
          </a:p>
          <a:p>
            <a:pPr marL="306000" lvl="0" indent="-25799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ill Sans"/>
              <a:buChar char="◼"/>
            </a:pPr>
            <a:r>
              <a:rPr lang="es-ES" sz="900" b="1" dirty="0">
                <a:solidFill>
                  <a:schemeClr val="lt1"/>
                </a:solidFill>
              </a:rPr>
              <a:t>RECOMENDACIONES</a:t>
            </a:r>
            <a:endParaRPr sz="500" dirty="0">
              <a:solidFill>
                <a:schemeClr val="lt1"/>
              </a:solidFill>
            </a:endParaRPr>
          </a:p>
        </p:txBody>
      </p:sp>
      <p:pic>
        <p:nvPicPr>
          <p:cNvPr id="112" name="Google Shape;112;p2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581190" y="457201"/>
            <a:ext cx="7363959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8239774" y="453643"/>
            <a:ext cx="329184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581189" y="681070"/>
            <a:ext cx="7363960" cy="56933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996381" y="1152939"/>
            <a:ext cx="6583680" cy="453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ill Sans"/>
              <a:buNone/>
            </a:pPr>
            <a:r>
              <a:rPr lang="es-ES" sz="5400">
                <a:solidFill>
                  <a:srgbClr val="FFFFFF"/>
                </a:solidFill>
              </a:rPr>
              <a:t>ESTRUCTURA DEL PROYECTO</a:t>
            </a:r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body" idx="1"/>
          </p:nvPr>
        </p:nvSpPr>
        <p:spPr>
          <a:xfrm>
            <a:off x="8210681" y="1152939"/>
            <a:ext cx="3400126" cy="453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 dirty="0"/>
              <a:t>Para la realización de la parte práctica de este proyecto, es necesario realizar los siguientes pasos detallados a continuación y adaptarlo a las necesidades de cada individuo.</a:t>
            </a:r>
            <a:endParaRPr dirty="0"/>
          </a:p>
          <a:p>
            <a:pPr marL="306000" lvl="0" indent="-306000" algn="l" rtl="0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s-ES" dirty="0"/>
              <a:t>Las herramientas necesarias para desarrollar esta práctica son los entornos de </a:t>
            </a:r>
            <a:r>
              <a:rPr lang="es-ES" b="1" dirty="0"/>
              <a:t>Visual Studio 2022, Android Studio y Docker.</a:t>
            </a:r>
            <a:endParaRPr b="1" dirty="0"/>
          </a:p>
        </p:txBody>
      </p:sp>
      <p:sp>
        <p:nvSpPr>
          <p:cNvPr id="124" name="Google Shape;124;p3"/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5752edde4_0_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34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rPr lang="es-ES" sz="1800"/>
              <a:t>DESARROLLO</a:t>
            </a:r>
            <a:endParaRPr/>
          </a:p>
        </p:txBody>
      </p:sp>
      <p:sp>
        <p:nvSpPr>
          <p:cNvPr id="130" name="Google Shape;130;g3a5752edde4_0_1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endParaRPr/>
          </a:p>
        </p:txBody>
      </p:sp>
      <p:sp>
        <p:nvSpPr>
          <p:cNvPr id="131" name="Google Shape;131;g3a5752edde4_0_1"/>
          <p:cNvSpPr txBox="1"/>
          <p:nvPr/>
        </p:nvSpPr>
        <p:spPr>
          <a:xfrm>
            <a:off x="486700" y="2842750"/>
            <a:ext cx="8529000" cy="196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800" b="1" dirty="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·</a:t>
            </a:r>
            <a:endParaRPr sz="1800" dirty="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Desarrollar un sistema distribuido compuesto por </a:t>
            </a:r>
            <a:r>
              <a:rPr lang="es-ES" sz="18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un servidor </a:t>
            </a:r>
            <a:r>
              <a:rPr lang="es-ES" sz="1800" dirty="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REST y múltiples clientes multiplataforma, utilizando Java </a:t>
            </a:r>
            <a:r>
              <a:rPr lang="es-ES" sz="1800" dirty="0" err="1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Jakarta</a:t>
            </a:r>
            <a:r>
              <a:rPr lang="es-ES" sz="1800" dirty="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EE, SQL Server en la nube con Digital </a:t>
            </a:r>
            <a:r>
              <a:rPr lang="es-ES" sz="1800" dirty="0" err="1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Ocean</a:t>
            </a:r>
            <a:r>
              <a:rPr lang="es-ES" sz="1800" dirty="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y arquitectura de software por capas, para gestionar integralmente un sistema bancario abarcando actividades de transferencia, depósito y retiro de fondos</a:t>
            </a:r>
            <a:r>
              <a:rPr lang="es-ES" sz="1800" dirty="0">
                <a:solidFill>
                  <a:srgbClr val="3D3D3D"/>
                </a:solidFill>
              </a:rPr>
              <a:t>.</a:t>
            </a:r>
            <a:endParaRPr sz="1800" dirty="0">
              <a:solidFill>
                <a:srgbClr val="3D3D3D"/>
              </a:solidFill>
            </a:endParaRPr>
          </a:p>
        </p:txBody>
      </p:sp>
      <p:sp>
        <p:nvSpPr>
          <p:cNvPr id="132" name="Google Shape;132;g3a5752edde4_0_1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rgbClr val="FFFF00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34621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r>
              <a:rPr lang="es-ES" sz="1800"/>
              <a:t>PARA LA ELABORACIÓN DEL PROYECTO, EN PRIMER LUGAR, SE DEBE CREAR UNA CARPETA DONDE SE ALMACENARÁN LOS ARCHIVOS NECESARIOS PARA SU FUNCIONAMIENTO.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rgbClr val="FFFF00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A4C59286-D1E5-B7E6-3083-D44991BE3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2448160"/>
            <a:ext cx="5400040" cy="899795"/>
          </a:xfrm>
          <a:prstGeom prst="rect">
            <a:avLst/>
          </a:prstGeom>
        </p:spPr>
      </p:pic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E548295-0EFB-D133-C42D-1C20FDBE9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980" y="3510046"/>
            <a:ext cx="5400040" cy="2931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5752edde4_0_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7" name="Google Shape;147;g3a5752edde4_0_50"/>
          <p:cNvSpPr/>
          <p:nvPr/>
        </p:nvSpPr>
        <p:spPr>
          <a:xfrm>
            <a:off x="581190" y="457201"/>
            <a:ext cx="7364100" cy="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8" name="Google Shape;148;g3a5752edde4_0_50"/>
          <p:cNvSpPr/>
          <p:nvPr/>
        </p:nvSpPr>
        <p:spPr>
          <a:xfrm>
            <a:off x="8239774" y="453643"/>
            <a:ext cx="3291900" cy="98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9" name="Google Shape;149;g3a5752edde4_0_50"/>
          <p:cNvSpPr/>
          <p:nvPr/>
        </p:nvSpPr>
        <p:spPr>
          <a:xfrm>
            <a:off x="581189" y="681070"/>
            <a:ext cx="7364100" cy="569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0" name="Google Shape;150;g3a5752edde4_0_50"/>
          <p:cNvSpPr txBox="1">
            <a:spLocks noGrp="1"/>
          </p:cNvSpPr>
          <p:nvPr>
            <p:ph type="title"/>
          </p:nvPr>
        </p:nvSpPr>
        <p:spPr>
          <a:xfrm>
            <a:off x="996381" y="1152939"/>
            <a:ext cx="6583800" cy="45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ill Sans"/>
              <a:buNone/>
            </a:pPr>
            <a:r>
              <a:rPr lang="es-ES" sz="5400">
                <a:solidFill>
                  <a:srgbClr val="FFFFFF"/>
                </a:solidFill>
              </a:rPr>
              <a:t>DIAGRAMAS</a:t>
            </a:r>
            <a:endParaRPr/>
          </a:p>
        </p:txBody>
      </p:sp>
      <p:sp>
        <p:nvSpPr>
          <p:cNvPr id="151" name="Google Shape;151;g3a5752edde4_0_50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591f79c51_0_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DIAGRAMAS</a:t>
            </a:r>
            <a:br>
              <a:rPr lang="es-ES"/>
            </a:br>
            <a:r>
              <a:rPr lang="es-ES" sz="2400"/>
              <a:t>DIAGRAMA DE ARQUITECTURA</a:t>
            </a:r>
            <a:endParaRPr/>
          </a:p>
        </p:txBody>
      </p:sp>
      <p:sp>
        <p:nvSpPr>
          <p:cNvPr id="157" name="Google Shape;157;g3a591f79c51_0_1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59" name="Google Shape;159;g3a591f79c51_0_1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650E67-DEB9-D667-129E-72C921E6D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11" y="2375105"/>
            <a:ext cx="7719859" cy="358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5752edde4_0_5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DIAGRAMAS</a:t>
            </a:r>
            <a:br>
              <a:rPr lang="es-ES" dirty="0"/>
            </a:br>
            <a:r>
              <a:rPr lang="es-ES" sz="2400" dirty="0"/>
              <a:t>DIAGRAMA CASOS DE USO</a:t>
            </a:r>
            <a:endParaRPr dirty="0"/>
          </a:p>
        </p:txBody>
      </p:sp>
      <p:sp>
        <p:nvSpPr>
          <p:cNvPr id="165" name="Google Shape;165;g3a5752edde4_0_59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67" name="Google Shape;167;g3a5752edde4_0_59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1607656-C3D3-D422-863B-CCAAB400D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090" y="2018157"/>
            <a:ext cx="5387603" cy="44397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6F4A9DF4-8E8A-E2F3-8F94-7BA4503D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5752edde4_0_59">
            <a:extLst>
              <a:ext uri="{FF2B5EF4-FFF2-40B4-BE49-F238E27FC236}">
                <a16:creationId xmlns:a16="http://schemas.microsoft.com/office/drawing/2014/main" id="{A5CEE954-06A4-9FD7-52D4-2F14CEAB2B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DIAGRAMAS</a:t>
            </a:r>
            <a:br>
              <a:rPr lang="es-ES" dirty="0"/>
            </a:br>
            <a:r>
              <a:rPr lang="es-ES" sz="2400" dirty="0"/>
              <a:t>DIAGRAMA ACTIVIDAD - DEPÓSITO</a:t>
            </a:r>
            <a:endParaRPr dirty="0"/>
          </a:p>
        </p:txBody>
      </p:sp>
      <p:sp>
        <p:nvSpPr>
          <p:cNvPr id="165" name="Google Shape;165;g3a5752edde4_0_59">
            <a:extLst>
              <a:ext uri="{FF2B5EF4-FFF2-40B4-BE49-F238E27FC236}">
                <a16:creationId xmlns:a16="http://schemas.microsoft.com/office/drawing/2014/main" id="{85563324-613B-4B29-1F80-6A4A81A4AE87}"/>
              </a:ext>
            </a:extLst>
          </p:cNvPr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67" name="Google Shape;167;g3a5752edde4_0_59">
            <a:extLst>
              <a:ext uri="{FF2B5EF4-FFF2-40B4-BE49-F238E27FC236}">
                <a16:creationId xmlns:a16="http://schemas.microsoft.com/office/drawing/2014/main" id="{7BFBE075-B585-8A5E-F53E-9F76E8ECA65D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78D9795-2013-18C9-57AD-FF27666C9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960" y="1912903"/>
            <a:ext cx="5115863" cy="494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64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D5D3B831-B9AC-CAF2-FA40-0F5CC198E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5752edde4_0_59">
            <a:extLst>
              <a:ext uri="{FF2B5EF4-FFF2-40B4-BE49-F238E27FC236}">
                <a16:creationId xmlns:a16="http://schemas.microsoft.com/office/drawing/2014/main" id="{8EA0F439-A9C4-2FBA-4109-8B8B3E62B0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DIAGRAMAS</a:t>
            </a:r>
            <a:br>
              <a:rPr lang="es-ES" dirty="0"/>
            </a:br>
            <a:r>
              <a:rPr lang="es-ES" sz="2400" dirty="0"/>
              <a:t>DIAGRAMA ACTIVIDAD - RETIRO</a:t>
            </a:r>
            <a:endParaRPr dirty="0"/>
          </a:p>
        </p:txBody>
      </p:sp>
      <p:sp>
        <p:nvSpPr>
          <p:cNvPr id="165" name="Google Shape;165;g3a5752edde4_0_59">
            <a:extLst>
              <a:ext uri="{FF2B5EF4-FFF2-40B4-BE49-F238E27FC236}">
                <a16:creationId xmlns:a16="http://schemas.microsoft.com/office/drawing/2014/main" id="{06F09598-B583-0549-861B-EE88F97F1C67}"/>
              </a:ext>
            </a:extLst>
          </p:cNvPr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67" name="Google Shape;167;g3a5752edde4_0_59">
            <a:extLst>
              <a:ext uri="{FF2B5EF4-FFF2-40B4-BE49-F238E27FC236}">
                <a16:creationId xmlns:a16="http://schemas.microsoft.com/office/drawing/2014/main" id="{8047C912-813E-D676-2EBF-C7639FB19E89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CC62002-3DD6-A5F8-857D-C21359351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429" y="1909748"/>
            <a:ext cx="5024926" cy="48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54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88F0FFF0-6822-E07E-7D65-51FCB2C12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5752edde4_0_59">
            <a:extLst>
              <a:ext uri="{FF2B5EF4-FFF2-40B4-BE49-F238E27FC236}">
                <a16:creationId xmlns:a16="http://schemas.microsoft.com/office/drawing/2014/main" id="{14234C9E-7A63-ED08-F80C-E86382FCC3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DIAGRAMAS</a:t>
            </a:r>
            <a:br>
              <a:rPr lang="es-ES" dirty="0"/>
            </a:br>
            <a:r>
              <a:rPr lang="es-ES" sz="2400" dirty="0"/>
              <a:t>DIAGRAMA ACTIVIDAD - TRANSFERENCIA</a:t>
            </a:r>
            <a:endParaRPr dirty="0"/>
          </a:p>
        </p:txBody>
      </p:sp>
      <p:sp>
        <p:nvSpPr>
          <p:cNvPr id="165" name="Google Shape;165;g3a5752edde4_0_59">
            <a:extLst>
              <a:ext uri="{FF2B5EF4-FFF2-40B4-BE49-F238E27FC236}">
                <a16:creationId xmlns:a16="http://schemas.microsoft.com/office/drawing/2014/main" id="{0614A40F-1E6F-ED8D-C569-C90BB924BF48}"/>
              </a:ext>
            </a:extLst>
          </p:cNvPr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67" name="Google Shape;167;g3a5752edde4_0_59">
            <a:extLst>
              <a:ext uri="{FF2B5EF4-FFF2-40B4-BE49-F238E27FC236}">
                <a16:creationId xmlns:a16="http://schemas.microsoft.com/office/drawing/2014/main" id="{2878B246-39E7-424D-73EA-1812F778F1C6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8C55D1-7696-36C2-8D91-6EDFFA09F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784" y="1945825"/>
            <a:ext cx="3940216" cy="491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11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F31F0958-7D20-9F29-E538-6379B2182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5752edde4_0_59">
            <a:extLst>
              <a:ext uri="{FF2B5EF4-FFF2-40B4-BE49-F238E27FC236}">
                <a16:creationId xmlns:a16="http://schemas.microsoft.com/office/drawing/2014/main" id="{E62F58F9-2BFA-33E9-F004-DCD81B11B7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DIAGRAMAS</a:t>
            </a:r>
            <a:br>
              <a:rPr lang="es-ES" dirty="0"/>
            </a:br>
            <a:r>
              <a:rPr lang="es-ES" sz="2400" dirty="0"/>
              <a:t>DIAGRAMA SECUENCIA - DEPÓSITO</a:t>
            </a:r>
            <a:endParaRPr dirty="0"/>
          </a:p>
        </p:txBody>
      </p:sp>
      <p:sp>
        <p:nvSpPr>
          <p:cNvPr id="165" name="Google Shape;165;g3a5752edde4_0_59">
            <a:extLst>
              <a:ext uri="{FF2B5EF4-FFF2-40B4-BE49-F238E27FC236}">
                <a16:creationId xmlns:a16="http://schemas.microsoft.com/office/drawing/2014/main" id="{8C6E2B0C-7435-6A2A-A93E-1789A8F5AAF6}"/>
              </a:ext>
            </a:extLst>
          </p:cNvPr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67" name="Google Shape;167;g3a5752edde4_0_59">
            <a:extLst>
              <a:ext uri="{FF2B5EF4-FFF2-40B4-BE49-F238E27FC236}">
                <a16:creationId xmlns:a16="http://schemas.microsoft.com/office/drawing/2014/main" id="{70B29504-90C3-84A0-7E92-4A166E444ACB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D9DE67-A8E0-E931-DA7B-7240F1C80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308" y="1952903"/>
            <a:ext cx="7297168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923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09E4F044-6F41-0A6C-E05A-1373E403B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5752edde4_0_59">
            <a:extLst>
              <a:ext uri="{FF2B5EF4-FFF2-40B4-BE49-F238E27FC236}">
                <a16:creationId xmlns:a16="http://schemas.microsoft.com/office/drawing/2014/main" id="{80B77241-49FE-CA62-EF7F-F5ADE8885A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DIAGRAMAS</a:t>
            </a:r>
            <a:br>
              <a:rPr lang="es-ES" dirty="0"/>
            </a:br>
            <a:r>
              <a:rPr lang="es-ES" sz="2400" dirty="0"/>
              <a:t>DIAGRAMA SECUENCIA - RETIRO</a:t>
            </a:r>
            <a:endParaRPr dirty="0"/>
          </a:p>
        </p:txBody>
      </p:sp>
      <p:sp>
        <p:nvSpPr>
          <p:cNvPr id="165" name="Google Shape;165;g3a5752edde4_0_59">
            <a:extLst>
              <a:ext uri="{FF2B5EF4-FFF2-40B4-BE49-F238E27FC236}">
                <a16:creationId xmlns:a16="http://schemas.microsoft.com/office/drawing/2014/main" id="{1996FB72-CE19-25C2-EC07-13A8EDC33B9C}"/>
              </a:ext>
            </a:extLst>
          </p:cNvPr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67" name="Google Shape;167;g3a5752edde4_0_59">
            <a:extLst>
              <a:ext uri="{FF2B5EF4-FFF2-40B4-BE49-F238E27FC236}">
                <a16:creationId xmlns:a16="http://schemas.microsoft.com/office/drawing/2014/main" id="{8393A5C0-2908-6F4A-3CED-D905EF63EA12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63B9C0E-4F44-A315-D51C-F28EF3E4C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544" y="1847194"/>
            <a:ext cx="7668695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28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F408B864-4953-CFAD-4371-BAEBB544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5752edde4_0_59">
            <a:extLst>
              <a:ext uri="{FF2B5EF4-FFF2-40B4-BE49-F238E27FC236}">
                <a16:creationId xmlns:a16="http://schemas.microsoft.com/office/drawing/2014/main" id="{83B565C1-FE80-5108-8403-A9C9E8C49F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DIAGRAMAS</a:t>
            </a:r>
            <a:br>
              <a:rPr lang="es-ES" dirty="0"/>
            </a:br>
            <a:r>
              <a:rPr lang="es-ES" sz="2400" dirty="0"/>
              <a:t>DIAGRAMA SECUENCIA - TRANSFERENCIA</a:t>
            </a:r>
            <a:endParaRPr dirty="0"/>
          </a:p>
        </p:txBody>
      </p:sp>
      <p:sp>
        <p:nvSpPr>
          <p:cNvPr id="165" name="Google Shape;165;g3a5752edde4_0_59">
            <a:extLst>
              <a:ext uri="{FF2B5EF4-FFF2-40B4-BE49-F238E27FC236}">
                <a16:creationId xmlns:a16="http://schemas.microsoft.com/office/drawing/2014/main" id="{92D3611E-C712-BEC6-8AE7-CF702D535B49}"/>
              </a:ext>
            </a:extLst>
          </p:cNvPr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67" name="Google Shape;167;g3a5752edde4_0_59">
            <a:extLst>
              <a:ext uri="{FF2B5EF4-FFF2-40B4-BE49-F238E27FC236}">
                <a16:creationId xmlns:a16="http://schemas.microsoft.com/office/drawing/2014/main" id="{CAED6ABF-A381-FD62-3189-3F8D405E575B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C71DB5-0CFC-A790-5EA2-CC3B82CA8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910" y="1947336"/>
            <a:ext cx="6467963" cy="451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92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7030DDE5-7F06-D4CF-13FC-E817D0FF7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0f888782f_0_0">
            <a:extLst>
              <a:ext uri="{FF2B5EF4-FFF2-40B4-BE49-F238E27FC236}">
                <a16:creationId xmlns:a16="http://schemas.microsoft.com/office/drawing/2014/main" id="{2E4BD292-3624-64F3-36F8-1FA50CD32A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DIAGRAMAS</a:t>
            </a:r>
            <a:br>
              <a:rPr lang="es-ES" dirty="0"/>
            </a:br>
            <a:r>
              <a:rPr lang="es-ES" sz="2400" dirty="0"/>
              <a:t>DIAGRAMA ENTIDAD RELACIÓN - CONCEPTUAL</a:t>
            </a:r>
            <a:endParaRPr dirty="0"/>
          </a:p>
        </p:txBody>
      </p:sp>
      <p:sp>
        <p:nvSpPr>
          <p:cNvPr id="173" name="Google Shape;173;g390f888782f_0_0">
            <a:extLst>
              <a:ext uri="{FF2B5EF4-FFF2-40B4-BE49-F238E27FC236}">
                <a16:creationId xmlns:a16="http://schemas.microsoft.com/office/drawing/2014/main" id="{C7BC803B-F6DB-D9D2-3114-265C61E73E93}"/>
              </a:ext>
            </a:extLst>
          </p:cNvPr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75" name="Google Shape;175;g390f888782f_0_0">
            <a:extLst>
              <a:ext uri="{FF2B5EF4-FFF2-40B4-BE49-F238E27FC236}">
                <a16:creationId xmlns:a16="http://schemas.microsoft.com/office/drawing/2014/main" id="{D042DE2E-E7EB-3CA9-1A52-F119B491344A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6" name="Google Shape;176;g390f888782f_0_0">
            <a:extLst>
              <a:ext uri="{FF2B5EF4-FFF2-40B4-BE49-F238E27FC236}">
                <a16:creationId xmlns:a16="http://schemas.microsoft.com/office/drawing/2014/main" id="{DBB97114-1844-B615-E09C-3C882497AF0C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D8B1234-9BD3-8D66-72F3-C97EA5A7E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540" y="1897529"/>
            <a:ext cx="4956703" cy="476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06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FAB7A718-9581-5C75-CBC4-A22CB32FB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0f888782f_0_0">
            <a:extLst>
              <a:ext uri="{FF2B5EF4-FFF2-40B4-BE49-F238E27FC236}">
                <a16:creationId xmlns:a16="http://schemas.microsoft.com/office/drawing/2014/main" id="{0DD7A278-712D-4F1E-74F8-BB94B730DA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DIAGRAMAS</a:t>
            </a:r>
            <a:br>
              <a:rPr lang="es-ES" dirty="0"/>
            </a:br>
            <a:r>
              <a:rPr lang="es-ES" sz="2400" dirty="0"/>
              <a:t>DIAGRAMA ENTIDAD RELACIÓN - LÓGICO</a:t>
            </a:r>
            <a:endParaRPr dirty="0"/>
          </a:p>
        </p:txBody>
      </p:sp>
      <p:sp>
        <p:nvSpPr>
          <p:cNvPr id="173" name="Google Shape;173;g390f888782f_0_0">
            <a:extLst>
              <a:ext uri="{FF2B5EF4-FFF2-40B4-BE49-F238E27FC236}">
                <a16:creationId xmlns:a16="http://schemas.microsoft.com/office/drawing/2014/main" id="{5B542C5F-6F5A-E674-146F-BAF587094804}"/>
              </a:ext>
            </a:extLst>
          </p:cNvPr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75" name="Google Shape;175;g390f888782f_0_0">
            <a:extLst>
              <a:ext uri="{FF2B5EF4-FFF2-40B4-BE49-F238E27FC236}">
                <a16:creationId xmlns:a16="http://schemas.microsoft.com/office/drawing/2014/main" id="{06F457FD-51D4-E280-C94D-0A838CDC83F4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6" name="Google Shape;176;g390f888782f_0_0">
            <a:extLst>
              <a:ext uri="{FF2B5EF4-FFF2-40B4-BE49-F238E27FC236}">
                <a16:creationId xmlns:a16="http://schemas.microsoft.com/office/drawing/2014/main" id="{DAE87BB9-B9CA-78B4-00E8-CA0A63C55923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7CE786-2123-4B40-1AD1-D7FC3CBFC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928" y="1884182"/>
            <a:ext cx="7122762" cy="497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46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A9A7115E-4572-781F-8E6D-1EE5465D6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0f888782f_0_0">
            <a:extLst>
              <a:ext uri="{FF2B5EF4-FFF2-40B4-BE49-F238E27FC236}">
                <a16:creationId xmlns:a16="http://schemas.microsoft.com/office/drawing/2014/main" id="{0374C51C-04B1-60B2-E6FA-901070EB0F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DIAGRAMAS</a:t>
            </a:r>
            <a:br>
              <a:rPr lang="es-ES" dirty="0"/>
            </a:br>
            <a:r>
              <a:rPr lang="es-ES" sz="2400" dirty="0"/>
              <a:t>DIAGRAMA ENTIDAD RELACIÓN - FÍSICO</a:t>
            </a:r>
            <a:endParaRPr dirty="0"/>
          </a:p>
        </p:txBody>
      </p:sp>
      <p:sp>
        <p:nvSpPr>
          <p:cNvPr id="173" name="Google Shape;173;g390f888782f_0_0">
            <a:extLst>
              <a:ext uri="{FF2B5EF4-FFF2-40B4-BE49-F238E27FC236}">
                <a16:creationId xmlns:a16="http://schemas.microsoft.com/office/drawing/2014/main" id="{DFF6153A-2498-AED0-9F76-CC0A63A99015}"/>
              </a:ext>
            </a:extLst>
          </p:cNvPr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75" name="Google Shape;175;g390f888782f_0_0">
            <a:extLst>
              <a:ext uri="{FF2B5EF4-FFF2-40B4-BE49-F238E27FC236}">
                <a16:creationId xmlns:a16="http://schemas.microsoft.com/office/drawing/2014/main" id="{2618260A-C9F2-150B-E928-E4E5F568110D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6" name="Google Shape;176;g390f888782f_0_0">
            <a:extLst>
              <a:ext uri="{FF2B5EF4-FFF2-40B4-BE49-F238E27FC236}">
                <a16:creationId xmlns:a16="http://schemas.microsoft.com/office/drawing/2014/main" id="{D718F828-6FF5-CFB8-FDED-D57C5D92AD95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31F4C5F-221A-B009-B42C-C1F87FB12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435" y="1962869"/>
            <a:ext cx="7036913" cy="469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18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4F8BE3D9-5ECD-BBC6-5CB8-EC58BB7EE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0f888782f_0_0">
            <a:extLst>
              <a:ext uri="{FF2B5EF4-FFF2-40B4-BE49-F238E27FC236}">
                <a16:creationId xmlns:a16="http://schemas.microsoft.com/office/drawing/2014/main" id="{4AF11300-FD22-15C1-C885-9459C4C33B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DIAGRAMAS</a:t>
            </a:r>
            <a:br>
              <a:rPr lang="es-ES" dirty="0"/>
            </a:br>
            <a:r>
              <a:rPr lang="es-ES" sz="2400" dirty="0"/>
              <a:t>DIAGRAMA DE CLASES </a:t>
            </a:r>
            <a:endParaRPr dirty="0"/>
          </a:p>
        </p:txBody>
      </p:sp>
      <p:sp>
        <p:nvSpPr>
          <p:cNvPr id="173" name="Google Shape;173;g390f888782f_0_0">
            <a:extLst>
              <a:ext uri="{FF2B5EF4-FFF2-40B4-BE49-F238E27FC236}">
                <a16:creationId xmlns:a16="http://schemas.microsoft.com/office/drawing/2014/main" id="{4CFB652C-B869-9B9F-C09E-A6D4A4427BB4}"/>
              </a:ext>
            </a:extLst>
          </p:cNvPr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75" name="Google Shape;175;g390f888782f_0_0">
            <a:extLst>
              <a:ext uri="{FF2B5EF4-FFF2-40B4-BE49-F238E27FC236}">
                <a16:creationId xmlns:a16="http://schemas.microsoft.com/office/drawing/2014/main" id="{D95923D5-16DF-F4B8-8E80-B52A9EDF459B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6" name="Google Shape;176;g390f888782f_0_0">
            <a:extLst>
              <a:ext uri="{FF2B5EF4-FFF2-40B4-BE49-F238E27FC236}">
                <a16:creationId xmlns:a16="http://schemas.microsoft.com/office/drawing/2014/main" id="{33BCC68A-AED5-CFA0-D4EF-A052E627495C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5EB2B4-9958-2A8F-FF3E-693A8C74D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109" y="1954714"/>
            <a:ext cx="5134029" cy="490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921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5752edde4_0_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g3a5752edde4_0_14"/>
          <p:cNvSpPr/>
          <p:nvPr/>
        </p:nvSpPr>
        <p:spPr>
          <a:xfrm>
            <a:off x="581190" y="457201"/>
            <a:ext cx="7364100" cy="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g3a5752edde4_0_14"/>
          <p:cNvSpPr/>
          <p:nvPr/>
        </p:nvSpPr>
        <p:spPr>
          <a:xfrm>
            <a:off x="8239774" y="453643"/>
            <a:ext cx="3291900" cy="98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4" name="Google Shape;184;g3a5752edde4_0_14"/>
          <p:cNvSpPr/>
          <p:nvPr/>
        </p:nvSpPr>
        <p:spPr>
          <a:xfrm>
            <a:off x="581189" y="681070"/>
            <a:ext cx="7364100" cy="569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5" name="Google Shape;185;g3a5752edde4_0_14"/>
          <p:cNvSpPr txBox="1">
            <a:spLocks noGrp="1"/>
          </p:cNvSpPr>
          <p:nvPr>
            <p:ph type="title"/>
          </p:nvPr>
        </p:nvSpPr>
        <p:spPr>
          <a:xfrm>
            <a:off x="996381" y="1152939"/>
            <a:ext cx="6583800" cy="45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ill Sans"/>
              <a:buNone/>
            </a:pPr>
            <a:r>
              <a:rPr lang="es-ES" sz="5400">
                <a:solidFill>
                  <a:srgbClr val="FFFFFF"/>
                </a:solidFill>
              </a:rPr>
              <a:t>CREACIÓN BASE DE DATOS</a:t>
            </a:r>
            <a:endParaRPr/>
          </a:p>
        </p:txBody>
      </p:sp>
      <p:sp>
        <p:nvSpPr>
          <p:cNvPr id="186" name="Google Shape;186;g3a5752edde4_0_14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5752edde4_0_23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/>
              <a:t>Definición del contenedor</a:t>
            </a:r>
            <a:endParaRPr dirty="0"/>
          </a:p>
        </p:txBody>
      </p:sp>
      <p:sp>
        <p:nvSpPr>
          <p:cNvPr id="192" name="Google Shape;192;g3a5752edde4_0_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CREACIÓN DE BASE DE DATOS</a:t>
            </a:r>
            <a:br>
              <a:rPr lang="es-ES"/>
            </a:br>
            <a:r>
              <a:rPr lang="es-ES" sz="2400"/>
              <a:t>BASE DE DATOS</a:t>
            </a:r>
            <a:endParaRPr/>
          </a:p>
        </p:txBody>
      </p:sp>
      <p:sp>
        <p:nvSpPr>
          <p:cNvPr id="193" name="Google Shape;193;g3a5752edde4_0_23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195" name="Google Shape;195;g3a5752edde4_0_23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DB66F3-A80B-0A52-ACA6-13F6A5415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082" y="2852001"/>
            <a:ext cx="6228304" cy="33038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5752edde4_0_32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Gestión del servidor remoto</a:t>
            </a:r>
            <a:endParaRPr dirty="0"/>
          </a:p>
        </p:txBody>
      </p:sp>
      <p:sp>
        <p:nvSpPr>
          <p:cNvPr id="201" name="Google Shape;201;g3a5752edde4_0_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CREACIÓN DE BASE DE DATOS</a:t>
            </a:r>
            <a:br>
              <a:rPr lang="es-ES"/>
            </a:br>
            <a:r>
              <a:rPr lang="es-ES" sz="2400"/>
              <a:t>BASE DE DATOS</a:t>
            </a:r>
            <a:endParaRPr/>
          </a:p>
        </p:txBody>
      </p:sp>
      <p:sp>
        <p:nvSpPr>
          <p:cNvPr id="203" name="Google Shape;203;g3a5752edde4_0_3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4" name="Google Shape;204;g3a5752edde4_0_3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Picture 1" descr="Captura de pantalla de un videojuego&#10;&#10;El contenido generado por IA puede ser incorrecto.">
            <a:extLst>
              <a:ext uri="{FF2B5EF4-FFF2-40B4-BE49-F238E27FC236}">
                <a16:creationId xmlns:a16="http://schemas.microsoft.com/office/drawing/2014/main" id="{6E811BE3-6F65-0A1B-5E54-465232FB9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233" y="2743079"/>
            <a:ext cx="6384036" cy="31169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5752edde4_0_41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Despliegue del servicio</a:t>
            </a:r>
            <a:endParaRPr dirty="0"/>
          </a:p>
        </p:txBody>
      </p:sp>
      <p:sp>
        <p:nvSpPr>
          <p:cNvPr id="210" name="Google Shape;210;g3a5752edde4_0_4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CREACIÓN DE BASE DE DATOS</a:t>
            </a:r>
            <a:br>
              <a:rPr lang="es-ES"/>
            </a:br>
            <a:r>
              <a:rPr lang="es-ES" sz="2400"/>
              <a:t>BASE DE DATOS</a:t>
            </a:r>
            <a:endParaRPr/>
          </a:p>
        </p:txBody>
      </p:sp>
      <p:sp>
        <p:nvSpPr>
          <p:cNvPr id="211" name="Google Shape;211;g3a5752edde4_0_41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213" name="Google Shape;213;g3a5752edde4_0_41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4" name="Google Shape;214;g3a5752edde4_0_41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Picture 1" descr="Texto&#10;&#10;El contenido generado por IA puede ser incorrecto.">
            <a:extLst>
              <a:ext uri="{FF2B5EF4-FFF2-40B4-BE49-F238E27FC236}">
                <a16:creationId xmlns:a16="http://schemas.microsoft.com/office/drawing/2014/main" id="{DD745209-5801-0971-A902-05A2A3148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51" y="3261750"/>
            <a:ext cx="8367817" cy="16560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ABFFFFD1-31DE-096B-E9D3-E4EA8C9E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5752edde4_0_41">
            <a:extLst>
              <a:ext uri="{FF2B5EF4-FFF2-40B4-BE49-F238E27FC236}">
                <a16:creationId xmlns:a16="http://schemas.microsoft.com/office/drawing/2014/main" id="{C55C6532-9AFF-6EC1-4F76-433AB1533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Verificación de la conexión con </a:t>
            </a:r>
            <a:r>
              <a:rPr lang="es-ES" dirty="0" err="1">
                <a:solidFill>
                  <a:schemeClr val="dk1"/>
                </a:solidFill>
              </a:rPr>
              <a:t>DBeaver</a:t>
            </a:r>
            <a:endParaRPr dirty="0"/>
          </a:p>
        </p:txBody>
      </p:sp>
      <p:sp>
        <p:nvSpPr>
          <p:cNvPr id="210" name="Google Shape;210;g3a5752edde4_0_41">
            <a:extLst>
              <a:ext uri="{FF2B5EF4-FFF2-40B4-BE49-F238E27FC236}">
                <a16:creationId xmlns:a16="http://schemas.microsoft.com/office/drawing/2014/main" id="{485F0A23-E474-6ABA-E15C-BAF8CC8488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CREACIÓN DE BASE DE DATOS</a:t>
            </a:r>
            <a:br>
              <a:rPr lang="es-ES"/>
            </a:br>
            <a:r>
              <a:rPr lang="es-ES" sz="2400"/>
              <a:t>BASE DE DATOS</a:t>
            </a:r>
            <a:endParaRPr/>
          </a:p>
        </p:txBody>
      </p:sp>
      <p:sp>
        <p:nvSpPr>
          <p:cNvPr id="211" name="Google Shape;211;g3a5752edde4_0_41">
            <a:extLst>
              <a:ext uri="{FF2B5EF4-FFF2-40B4-BE49-F238E27FC236}">
                <a16:creationId xmlns:a16="http://schemas.microsoft.com/office/drawing/2014/main" id="{79F26C3E-D500-C38D-77BC-5BB9BA07C544}"/>
              </a:ext>
            </a:extLst>
          </p:cNvPr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213" name="Google Shape;213;g3a5752edde4_0_41">
            <a:extLst>
              <a:ext uri="{FF2B5EF4-FFF2-40B4-BE49-F238E27FC236}">
                <a16:creationId xmlns:a16="http://schemas.microsoft.com/office/drawing/2014/main" id="{DAE10A2E-2ADF-35E1-E09F-0BA2505CC9C5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4" name="Google Shape;214;g3a5752edde4_0_41">
            <a:extLst>
              <a:ext uri="{FF2B5EF4-FFF2-40B4-BE49-F238E27FC236}">
                <a16:creationId xmlns:a16="http://schemas.microsoft.com/office/drawing/2014/main" id="{5BEA6FA3-82FC-B720-178A-210B30748A4B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AD77EC-33FA-DCF3-F283-DC09FCA91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558" y="2590585"/>
            <a:ext cx="4079352" cy="363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274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581190" y="457201"/>
            <a:ext cx="7363959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8239774" y="453643"/>
            <a:ext cx="329184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581189" y="681070"/>
            <a:ext cx="7363960" cy="56933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3" name="Google Shape;223;p5"/>
          <p:cNvSpPr txBox="1">
            <a:spLocks noGrp="1"/>
          </p:cNvSpPr>
          <p:nvPr>
            <p:ph type="title"/>
          </p:nvPr>
        </p:nvSpPr>
        <p:spPr>
          <a:xfrm>
            <a:off x="996381" y="1152939"/>
            <a:ext cx="6583680" cy="453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ill Sans"/>
              <a:buNone/>
            </a:pPr>
            <a:r>
              <a:rPr lang="es-ES" sz="5400" dirty="0">
                <a:solidFill>
                  <a:srgbClr val="FFFFFF"/>
                </a:solidFill>
              </a:rPr>
              <a:t>APLICACIÓN SERVIDOR EUREKABANK</a:t>
            </a:r>
            <a:endParaRPr dirty="0"/>
          </a:p>
        </p:txBody>
      </p:sp>
      <p:sp>
        <p:nvSpPr>
          <p:cNvPr id="224" name="Google Shape;224;p5"/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350" cy="78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Este se aloja en la carpeta 01. SERVIDOR. Se crea como ‘ASP.NET WEB API’ en Visual Studio</a:t>
            </a:r>
            <a:endParaRPr dirty="0"/>
          </a:p>
        </p:txBody>
      </p:sp>
      <p:sp>
        <p:nvSpPr>
          <p:cNvPr id="230" name="Google Shape;230;p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350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APLICACIONES SERVIDOR</a:t>
            </a:r>
            <a:br>
              <a:rPr lang="es-ES" dirty="0"/>
            </a:br>
            <a:r>
              <a:rPr lang="es-ES" sz="2400" dirty="0"/>
              <a:t>CREACIÓN DEL PROYECTO SERVIDOR EUREKABANK</a:t>
            </a:r>
            <a:endParaRPr dirty="0"/>
          </a:p>
        </p:txBody>
      </p:sp>
      <p:sp>
        <p:nvSpPr>
          <p:cNvPr id="231" name="Google Shape;231;p6"/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6</a:t>
            </a:r>
            <a:endParaRPr/>
          </a:p>
        </p:txBody>
      </p:sp>
      <p:sp>
        <p:nvSpPr>
          <p:cNvPr id="233" name="Google Shape;233;p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B1FCF7FC-1306-C4FB-1960-D92FE022B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763" y="3176670"/>
            <a:ext cx="7194208" cy="229006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350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APLICACIONES SERVIDOR</a:t>
            </a:r>
            <a:br>
              <a:rPr lang="es-ES" dirty="0"/>
            </a:br>
            <a:r>
              <a:rPr lang="es-ES" sz="2400" dirty="0"/>
              <a:t>CONEXIÓN A LA BASE DE DATOS</a:t>
            </a:r>
            <a:endParaRPr i="1" dirty="0"/>
          </a:p>
        </p:txBody>
      </p:sp>
      <p:sp>
        <p:nvSpPr>
          <p:cNvPr id="239" name="Google Shape;239;p7"/>
          <p:cNvSpPr txBox="1"/>
          <p:nvPr/>
        </p:nvSpPr>
        <p:spPr>
          <a:xfrm>
            <a:off x="11817675" y="6457890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7</a:t>
            </a:r>
            <a:endParaRPr/>
          </a:p>
        </p:txBody>
      </p:sp>
      <p:sp>
        <p:nvSpPr>
          <p:cNvPr id="241" name="Google Shape;241;p7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Se configura la conexión a la base de datos en el archivo </a:t>
            </a:r>
            <a:r>
              <a:rPr lang="es-EC" sz="18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ConexionDB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BAE11E-FE1C-22FA-3913-81CADD124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922" y="2557283"/>
            <a:ext cx="5761733" cy="421799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350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APLICACIONES SERVIDOR</a:t>
            </a:r>
            <a:br>
              <a:rPr lang="es-ES"/>
            </a:br>
            <a:r>
              <a:rPr lang="es-ES" sz="2400"/>
              <a:t>ESTRUCTURA DEL PROYECTO</a:t>
            </a:r>
            <a:endParaRPr/>
          </a:p>
        </p:txBody>
      </p:sp>
      <p:sp>
        <p:nvSpPr>
          <p:cNvPr id="249" name="Google Shape;249;p8"/>
          <p:cNvSpPr txBox="1"/>
          <p:nvPr/>
        </p:nvSpPr>
        <p:spPr>
          <a:xfrm>
            <a:off x="11817675" y="6457890"/>
            <a:ext cx="3744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 sz="1900"/>
          </a:p>
        </p:txBody>
      </p:sp>
      <p:sp>
        <p:nvSpPr>
          <p:cNvPr id="251" name="Google Shape;251;p8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Se crean los paquetes necesarios dentro del proyecto</a:t>
            </a:r>
            <a:endParaRPr i="1" dirty="0">
              <a:solidFill>
                <a:schemeClr val="dk1"/>
              </a:solidFill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BE43F904-CEC8-F1F2-371C-3451E911C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303" y="2743079"/>
            <a:ext cx="4873895" cy="215589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591f79c51_0_1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APLICACIONES SERVIDOR</a:t>
            </a:r>
            <a:br>
              <a:rPr lang="es-ES" dirty="0"/>
            </a:br>
            <a:r>
              <a:rPr lang="es-ES" sz="2400" dirty="0"/>
              <a:t>CREACIÓN DE MODELOS, SERVICIOS Y CONTROLADOR</a:t>
            </a:r>
            <a:endParaRPr dirty="0"/>
          </a:p>
        </p:txBody>
      </p:sp>
      <p:sp>
        <p:nvSpPr>
          <p:cNvPr id="259" name="Google Shape;259;g3a591f79c51_0_18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260" name="Google Shape;260;g3a591f79c51_0_18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solidFill>
                  <a:schemeClr val="dk1"/>
                </a:solidFill>
              </a:rPr>
              <a:t>Se crean las clases dentro de los paquetes </a:t>
            </a:r>
            <a:r>
              <a:rPr lang="es-ES" i="1">
                <a:solidFill>
                  <a:schemeClr val="dk1"/>
                </a:solidFill>
              </a:rPr>
              <a:t>entities, repositories y dto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264" name="Google Shape;264;g3a591f79c51_0_1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5" name="Google Shape;265;g3a591f79c51_0_1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554BFDDC-5925-3952-A0EF-BFB701504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2777614"/>
            <a:ext cx="3905250" cy="16002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E8B22D3-63DC-4198-2ADF-383C04751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986" y="3546774"/>
            <a:ext cx="3128475" cy="49176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C58E1C5-35B8-4CD1-A8BA-1AB0CBB0E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1372" y="5038725"/>
            <a:ext cx="4367520" cy="67873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591f79c51_0_4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APLICACIONES SERVIDOR</a:t>
            </a:r>
            <a:br>
              <a:rPr lang="es-ES" dirty="0"/>
            </a:br>
            <a:r>
              <a:rPr lang="es-ES" sz="2400" dirty="0"/>
              <a:t>PRUEBAS DE LOS SERVICIOS</a:t>
            </a:r>
            <a:endParaRPr dirty="0"/>
          </a:p>
        </p:txBody>
      </p:sp>
      <p:sp>
        <p:nvSpPr>
          <p:cNvPr id="282" name="Google Shape;282;g3a591f79c51_0_41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283" name="Google Shape;283;g3a591f79c51_0_41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Para realizar la prueba de los servicios se procede a ejecutar el proyecto servidor, y hacer uso de </a:t>
            </a:r>
            <a:r>
              <a:rPr lang="es-ES" dirty="0" err="1">
                <a:solidFill>
                  <a:schemeClr val="dk1"/>
                </a:solidFill>
              </a:rPr>
              <a:t>Postman</a:t>
            </a: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284" name="Google Shape;284;g3a591f79c51_0_41"/>
          <p:cNvGraphicFramePr/>
          <p:nvPr>
            <p:extLst>
              <p:ext uri="{D42A27DB-BD31-4B8C-83A1-F6EECF244321}">
                <p14:modId xmlns:p14="http://schemas.microsoft.com/office/powerpoint/2010/main" val="269080467"/>
              </p:ext>
            </p:extLst>
          </p:nvPr>
        </p:nvGraphicFramePr>
        <p:xfrm>
          <a:off x="581192" y="2743079"/>
          <a:ext cx="8287505" cy="3784647"/>
        </p:xfrm>
        <a:graphic>
          <a:graphicData uri="http://schemas.openxmlformats.org/drawingml/2006/table">
            <a:tbl>
              <a:tblPr>
                <a:noFill/>
                <a:tableStyleId>{44C02D92-EB61-4233-A5F8-FC8B1682F09E}</a:tableStyleId>
              </a:tblPr>
              <a:tblGrid>
                <a:gridCol w="291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2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1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1"/>
                        <a:t>#</a:t>
                      </a:r>
                      <a:endParaRPr sz="1100" b="1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1"/>
                        <a:t>Endpoint</a:t>
                      </a:r>
                      <a:endParaRPr sz="1100" b="1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1"/>
                        <a:t>Método</a:t>
                      </a:r>
                      <a:endParaRPr sz="1100" b="1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b="1"/>
                        <a:t>Funcionalidad</a:t>
                      </a:r>
                      <a:endParaRPr sz="1100" b="1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1</a:t>
                      </a:r>
                      <a:endParaRPr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/api/movimiento/listar</a:t>
                      </a:r>
                      <a:endParaRPr dirty="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GET</a:t>
                      </a:r>
                      <a:endParaRPr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Obtiene el historial de movimientos de una cuenta específica.</a:t>
                      </a:r>
                      <a:endParaRPr dirty="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2</a:t>
                      </a:r>
                      <a:endParaRPr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MS Mincho" panose="02020609040205080304" pitchFamily="49" charset="-128"/>
                          <a:cs typeface="Arial"/>
                          <a:sym typeface="Arial"/>
                        </a:rPr>
                        <a:t>/api/movimiento/deposito</a:t>
                      </a:r>
                    </a:p>
                  </a:txBody>
                  <a:tcPr marL="114300" marR="114300" marT="76200" marB="762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/>
                        <a:t>POST</a:t>
                      </a:r>
                      <a:endParaRPr dirty="0"/>
                    </a:p>
                  </a:txBody>
                  <a:tcPr marL="68575" marR="6857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Registra un depósito bancario en una cuenta.</a:t>
                      </a:r>
                      <a:endParaRPr dirty="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3</a:t>
                      </a:r>
                      <a:endParaRPr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/api/movimiento/retiro</a:t>
                      </a:r>
                      <a:endParaRPr dirty="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POST</a:t>
                      </a:r>
                      <a:endParaRPr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Registra un retiro de dinero de una cuenta.</a:t>
                      </a:r>
                      <a:endParaRPr dirty="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4</a:t>
                      </a:r>
                      <a:endParaRPr dirty="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/api/movimiento/transferencia</a:t>
                      </a:r>
                      <a:endParaRPr lang="es-ES" dirty="0"/>
                    </a:p>
                  </a:txBody>
                  <a:tcPr marL="68575" marR="6857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POST</a:t>
                      </a:r>
                      <a:endParaRPr dirty="0"/>
                    </a:p>
                  </a:txBody>
                  <a:tcPr marL="68575" marR="6857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Realiza una transferencia de dinero entre dos cuentas.</a:t>
                      </a:r>
                      <a:endParaRPr dirty="0"/>
                    </a:p>
                  </a:txBody>
                  <a:tcPr marL="68575" marR="6857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118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5</a:t>
                      </a:r>
                      <a:endParaRPr dirty="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/api/movimiento/</a:t>
                      </a:r>
                      <a:r>
                        <a:rPr lang="es-E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login</a:t>
                      </a:r>
                      <a:endParaRPr dirty="0"/>
                    </a:p>
                  </a:txBody>
                  <a:tcPr marL="68575" marR="6857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POST</a:t>
                      </a:r>
                      <a:endParaRPr dirty="0"/>
                    </a:p>
                  </a:txBody>
                  <a:tcPr marL="68575" marR="6857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Autentica a un usuario (empleado) en el sistema.</a:t>
                      </a:r>
                      <a:endParaRPr dirty="0"/>
                    </a:p>
                  </a:txBody>
                  <a:tcPr marL="68575" marR="6857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340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 marL="68575" marR="6857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/api/movimiento/balances</a:t>
                      </a:r>
                      <a:endParaRPr dirty="0"/>
                    </a:p>
                  </a:txBody>
                  <a:tcPr marL="68575" marR="6857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/>
                        <a:t>GET</a:t>
                      </a:r>
                      <a:endParaRPr dirty="0"/>
                    </a:p>
                  </a:txBody>
                  <a:tcPr marL="68575" marR="6857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Lista todas las cuentas activas con sus saldos actuales.</a:t>
                      </a:r>
                      <a:endParaRPr dirty="0"/>
                    </a:p>
                  </a:txBody>
                  <a:tcPr marL="68575" marR="6857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1507446"/>
                  </a:ext>
                </a:extLst>
              </a:tr>
            </a:tbl>
          </a:graphicData>
        </a:graphic>
      </p:graphicFrame>
      <p:sp>
        <p:nvSpPr>
          <p:cNvPr id="285" name="Google Shape;285;g3a591f79c51_0_41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6" name="Google Shape;286;g3a591f79c51_0_41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591f79c51_0_5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APLICACIONES SERVIDOR</a:t>
            </a:r>
            <a:br>
              <a:rPr lang="es-ES"/>
            </a:br>
            <a:r>
              <a:rPr lang="es-ES" sz="2400"/>
              <a:t>PRUEBAS DE LOS SERVICIOS - Endpoint 1</a:t>
            </a:r>
            <a:endParaRPr/>
          </a:p>
        </p:txBody>
      </p:sp>
      <p:sp>
        <p:nvSpPr>
          <p:cNvPr id="292" name="Google Shape;292;g3a591f79c51_0_53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293" name="Google Shape;293;g3a591f79c51_0_53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 err="1">
                <a:solidFill>
                  <a:schemeClr val="dk1"/>
                </a:solidFill>
              </a:rPr>
              <a:t>Login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95" name="Google Shape;295;g3a591f79c51_0_53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6" name="Google Shape;296;g3a591f79c51_0_53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7" name="Google Shape;297;g3a591f79c51_0_53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591f79c51_0_6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APLICACIONES SERVIDOR</a:t>
            </a:r>
            <a:br>
              <a:rPr lang="es-ES"/>
            </a:br>
            <a:r>
              <a:rPr lang="es-ES" sz="2400"/>
              <a:t>PRUEBAS DE LOS SERVICIOS - Endpoint 2</a:t>
            </a:r>
            <a:endParaRPr/>
          </a:p>
        </p:txBody>
      </p:sp>
      <p:sp>
        <p:nvSpPr>
          <p:cNvPr id="303" name="Google Shape;303;g3a591f79c51_0_63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304" name="Google Shape;304;g3a591f79c51_0_63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Registro de Depósito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06" name="Google Shape;306;g3a591f79c51_0_63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7" name="Google Shape;307;g3a591f79c51_0_63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8" name="Google Shape;308;g3a591f79c51_0_63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591f79c51_0_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APLICACIONES SERVIDOR</a:t>
            </a:r>
            <a:br>
              <a:rPr lang="es-ES"/>
            </a:br>
            <a:r>
              <a:rPr lang="es-ES" sz="2400"/>
              <a:t>PRUEBAS DE LOS SERVICIOS - Endpoint 3</a:t>
            </a:r>
            <a:endParaRPr/>
          </a:p>
        </p:txBody>
      </p:sp>
      <p:sp>
        <p:nvSpPr>
          <p:cNvPr id="314" name="Google Shape;314;g3a591f79c51_0_73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315" name="Google Shape;315;g3a591f79c51_0_73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Registro de Retiro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17" name="Google Shape;317;g3a591f79c51_0_73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8" name="Google Shape;318;g3a591f79c51_0_73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9" name="Google Shape;319;g3a591f79c51_0_73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591f79c51_0_8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APLICACIONES SERVIDOR</a:t>
            </a:r>
            <a:br>
              <a:rPr lang="es-ES" dirty="0"/>
            </a:br>
            <a:r>
              <a:rPr lang="es-ES" sz="2400" dirty="0"/>
              <a:t>PRUEBAS DE LOS SERVICIOS - </a:t>
            </a:r>
            <a:r>
              <a:rPr lang="es-ES" sz="2400" dirty="0" err="1"/>
              <a:t>Endpoint</a:t>
            </a:r>
            <a:r>
              <a:rPr lang="es-ES" sz="2400" dirty="0"/>
              <a:t> 4</a:t>
            </a:r>
            <a:endParaRPr dirty="0"/>
          </a:p>
        </p:txBody>
      </p:sp>
      <p:sp>
        <p:nvSpPr>
          <p:cNvPr id="325" name="Google Shape;325;g3a591f79c51_0_82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326" name="Google Shape;326;g3a591f79c51_0_82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Registro de Transferencia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28" name="Google Shape;328;g3a591f79c51_0_8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9" name="Google Shape;329;g3a591f79c51_0_8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0" name="Google Shape;330;g3a591f79c51_0_8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22857EDC-B038-78B7-A380-DE03F1E21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591f79c51_0_82">
            <a:extLst>
              <a:ext uri="{FF2B5EF4-FFF2-40B4-BE49-F238E27FC236}">
                <a16:creationId xmlns:a16="http://schemas.microsoft.com/office/drawing/2014/main" id="{324E808F-2365-7700-D644-0A849B584A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APLICACIONES SERVIDOR</a:t>
            </a:r>
            <a:br>
              <a:rPr lang="es-ES" dirty="0"/>
            </a:br>
            <a:r>
              <a:rPr lang="es-ES" sz="2400" dirty="0"/>
              <a:t>PRUEBAS DE LOS SERVICIOS - </a:t>
            </a:r>
            <a:r>
              <a:rPr lang="es-ES" sz="2400" dirty="0" err="1"/>
              <a:t>Endpoint</a:t>
            </a:r>
            <a:r>
              <a:rPr lang="es-ES" sz="2400" dirty="0"/>
              <a:t> 5</a:t>
            </a:r>
            <a:endParaRPr dirty="0"/>
          </a:p>
        </p:txBody>
      </p:sp>
      <p:sp>
        <p:nvSpPr>
          <p:cNvPr id="325" name="Google Shape;325;g3a591f79c51_0_82">
            <a:extLst>
              <a:ext uri="{FF2B5EF4-FFF2-40B4-BE49-F238E27FC236}">
                <a16:creationId xmlns:a16="http://schemas.microsoft.com/office/drawing/2014/main" id="{7F4C0807-4E5B-C209-7C93-BE03F654C351}"/>
              </a:ext>
            </a:extLst>
          </p:cNvPr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326" name="Google Shape;326;g3a591f79c51_0_82">
            <a:extLst>
              <a:ext uri="{FF2B5EF4-FFF2-40B4-BE49-F238E27FC236}">
                <a16:creationId xmlns:a16="http://schemas.microsoft.com/office/drawing/2014/main" id="{819FD6BF-D426-043A-95C8-0A08ECBAB3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Consulta de Historial de Transacciones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28" name="Google Shape;328;g3a591f79c51_0_82">
            <a:extLst>
              <a:ext uri="{FF2B5EF4-FFF2-40B4-BE49-F238E27FC236}">
                <a16:creationId xmlns:a16="http://schemas.microsoft.com/office/drawing/2014/main" id="{BE9487B4-79EF-05D8-D0DA-95200FBA362E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9" name="Google Shape;329;g3a591f79c51_0_82">
            <a:extLst>
              <a:ext uri="{FF2B5EF4-FFF2-40B4-BE49-F238E27FC236}">
                <a16:creationId xmlns:a16="http://schemas.microsoft.com/office/drawing/2014/main" id="{5B022E83-606B-66FA-A170-9AADC7BA204C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0" name="Google Shape;330;g3a591f79c51_0_82">
            <a:extLst>
              <a:ext uri="{FF2B5EF4-FFF2-40B4-BE49-F238E27FC236}">
                <a16:creationId xmlns:a16="http://schemas.microsoft.com/office/drawing/2014/main" id="{E4244FBB-71E1-62A9-FAD2-57963B5707F8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0755930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>
          <a:extLst>
            <a:ext uri="{FF2B5EF4-FFF2-40B4-BE49-F238E27FC236}">
              <a16:creationId xmlns:a16="http://schemas.microsoft.com/office/drawing/2014/main" id="{8E6360AD-3004-4F3C-2872-3CB11931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591f79c51_0_82">
            <a:extLst>
              <a:ext uri="{FF2B5EF4-FFF2-40B4-BE49-F238E27FC236}">
                <a16:creationId xmlns:a16="http://schemas.microsoft.com/office/drawing/2014/main" id="{9415555A-2850-3CC8-DCBD-74FE4193D3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APLICACIONES SERVIDOR</a:t>
            </a:r>
            <a:br>
              <a:rPr lang="es-ES" dirty="0"/>
            </a:br>
            <a:r>
              <a:rPr lang="es-ES" sz="2400" dirty="0"/>
              <a:t>PRUEBAS DE LOS SERVICIOS - </a:t>
            </a:r>
            <a:r>
              <a:rPr lang="es-ES" sz="2400" dirty="0" err="1"/>
              <a:t>Endpoint</a:t>
            </a:r>
            <a:r>
              <a:rPr lang="es-ES" sz="2400" dirty="0"/>
              <a:t> 6	</a:t>
            </a:r>
            <a:endParaRPr dirty="0"/>
          </a:p>
        </p:txBody>
      </p:sp>
      <p:sp>
        <p:nvSpPr>
          <p:cNvPr id="325" name="Google Shape;325;g3a591f79c51_0_82">
            <a:extLst>
              <a:ext uri="{FF2B5EF4-FFF2-40B4-BE49-F238E27FC236}">
                <a16:creationId xmlns:a16="http://schemas.microsoft.com/office/drawing/2014/main" id="{FA25825D-E6DA-B18B-9D73-66069ED4E03D}"/>
              </a:ext>
            </a:extLst>
          </p:cNvPr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326" name="Google Shape;326;g3a591f79c51_0_82">
            <a:extLst>
              <a:ext uri="{FF2B5EF4-FFF2-40B4-BE49-F238E27FC236}">
                <a16:creationId xmlns:a16="http://schemas.microsoft.com/office/drawing/2014/main" id="{9007A1A9-E655-0FB2-1C3B-77AD708493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Consulta de Balances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28" name="Google Shape;328;g3a591f79c51_0_82">
            <a:extLst>
              <a:ext uri="{FF2B5EF4-FFF2-40B4-BE49-F238E27FC236}">
                <a16:creationId xmlns:a16="http://schemas.microsoft.com/office/drawing/2014/main" id="{F38E0233-8D76-1E96-DA4D-1A2E6A90B42E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9" name="Google Shape;329;g3a591f79c51_0_82">
            <a:extLst>
              <a:ext uri="{FF2B5EF4-FFF2-40B4-BE49-F238E27FC236}">
                <a16:creationId xmlns:a16="http://schemas.microsoft.com/office/drawing/2014/main" id="{F0FA6B84-3458-322C-E1FA-18EF31E1405D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0" name="Google Shape;330;g3a591f79c51_0_82">
            <a:extLst>
              <a:ext uri="{FF2B5EF4-FFF2-40B4-BE49-F238E27FC236}">
                <a16:creationId xmlns:a16="http://schemas.microsoft.com/office/drawing/2014/main" id="{2A7B480C-F82D-5574-A322-1EEFDC96A470}"/>
              </a:ext>
            </a:extLst>
          </p:cNvPr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016918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581190" y="457201"/>
            <a:ext cx="7363959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8239774" y="453643"/>
            <a:ext cx="329184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581189" y="681070"/>
            <a:ext cx="7363960" cy="56933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9" name="Google Shape;469;p11"/>
          <p:cNvSpPr txBox="1">
            <a:spLocks noGrp="1"/>
          </p:cNvSpPr>
          <p:nvPr>
            <p:ph type="title"/>
          </p:nvPr>
        </p:nvSpPr>
        <p:spPr>
          <a:xfrm>
            <a:off x="996381" y="1152939"/>
            <a:ext cx="6583680" cy="453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ill Sans"/>
              <a:buNone/>
            </a:pPr>
            <a:r>
              <a:rPr lang="es-ES" sz="5400">
                <a:solidFill>
                  <a:srgbClr val="FFFFFF"/>
                </a:solidFill>
              </a:rPr>
              <a:t>APLICACIÓN CLIENTE CONSOLA</a:t>
            </a:r>
            <a:endParaRPr/>
          </a:p>
        </p:txBody>
      </p:sp>
      <p:sp>
        <p:nvSpPr>
          <p:cNvPr id="470" name="Google Shape;470;p11"/>
          <p:cNvSpPr txBox="1"/>
          <p:nvPr/>
        </p:nvSpPr>
        <p:spPr>
          <a:xfrm>
            <a:off x="11696007" y="6457890"/>
            <a:ext cx="4959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"/>
          <p:cNvSpPr txBox="1"/>
          <p:nvPr/>
        </p:nvSpPr>
        <p:spPr>
          <a:xfrm>
            <a:off x="9117367" y="0"/>
            <a:ext cx="307463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476" name="Google Shape;476;p1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350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CONSOLA</a:t>
            </a:r>
            <a:br>
              <a:rPr lang="es-ES"/>
            </a:br>
            <a:r>
              <a:rPr lang="es-ES" sz="2400"/>
              <a:t>CREACIÓN DEL PROYECTO</a:t>
            </a:r>
            <a:endParaRPr/>
          </a:p>
        </p:txBody>
      </p:sp>
      <p:sp>
        <p:nvSpPr>
          <p:cNvPr id="477" name="Google Shape;477;p12"/>
          <p:cNvSpPr txBox="1"/>
          <p:nvPr/>
        </p:nvSpPr>
        <p:spPr>
          <a:xfrm>
            <a:off x="11696007" y="6457890"/>
            <a:ext cx="4959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15</a:t>
            </a:r>
            <a:endParaRPr/>
          </a:p>
        </p:txBody>
      </p:sp>
      <p:sp>
        <p:nvSpPr>
          <p:cNvPr id="478" name="Google Shape;478;p1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479" name="Google Shape;479;p1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0" name="Google Shape;480;p12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solidFill>
                  <a:schemeClr val="dk1"/>
                </a:solidFill>
              </a:rPr>
              <a:t>Este se aloja en la carpeta 02. CLICON. Se crea como ‘Java Application’ en Netbeans</a:t>
            </a:r>
            <a:endParaRPr/>
          </a:p>
        </p:txBody>
      </p:sp>
      <p:pic>
        <p:nvPicPr>
          <p:cNvPr id="2" name="Imagen 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9EDC13ED-7B49-5A71-F18F-0AC83334B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698" y="2830009"/>
            <a:ext cx="4544722" cy="31381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591f79c51_0_26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487" name="Google Shape;487;g3a591f79c51_0_26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CONSOLA</a:t>
            </a:r>
            <a:br>
              <a:rPr lang="es-ES"/>
            </a:br>
            <a:r>
              <a:rPr lang="es-ES" sz="2400"/>
              <a:t>ESTRUCTURA DEL PROYECTO</a:t>
            </a:r>
            <a:endParaRPr/>
          </a:p>
        </p:txBody>
      </p:sp>
      <p:sp>
        <p:nvSpPr>
          <p:cNvPr id="488" name="Google Shape;488;g3a591f79c51_0_268"/>
          <p:cNvSpPr txBox="1"/>
          <p:nvPr/>
        </p:nvSpPr>
        <p:spPr>
          <a:xfrm>
            <a:off x="11696007" y="6457890"/>
            <a:ext cx="49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15</a:t>
            </a:r>
            <a:endParaRPr/>
          </a:p>
        </p:txBody>
      </p:sp>
      <p:sp>
        <p:nvSpPr>
          <p:cNvPr id="489" name="Google Shape;489;g3a591f79c51_0_26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490" name="Google Shape;490;g3a591f79c51_0_26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highlight>
                  <a:srgbClr val="00FF00"/>
                </a:highlight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highlight>
                <a:srgbClr val="00FF00"/>
              </a:highlight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1" name="Google Shape;491;g3a591f79c51_0_268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solidFill>
                  <a:schemeClr val="dk1"/>
                </a:solidFill>
              </a:rPr>
              <a:t>Se crean los paquetes necesarios dentro de </a:t>
            </a:r>
            <a:r>
              <a:rPr lang="es-ES" i="1">
                <a:solidFill>
                  <a:schemeClr val="dk1"/>
                </a:solidFill>
              </a:rPr>
              <a:t>Source Packages </a:t>
            </a:r>
            <a:r>
              <a:rPr lang="es-ES">
                <a:solidFill>
                  <a:schemeClr val="dk1"/>
                </a:solidFill>
              </a:rPr>
              <a:t>siguiendo el patrón  MVC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3" name="Google Shape;493;g3a591f79c51_0_26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494" name="Google Shape;494;g3a591f79c51_0_26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495" name="Google Shape;495;g3a591f79c51_0_26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5F044C5-8651-FACE-A4CC-B3D3D4A15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947" y="3082749"/>
            <a:ext cx="5976406" cy="206434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a591f79c51_0_31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APLICACIÓN CLIENTE CONSOLA</a:t>
            </a:r>
            <a:br>
              <a:rPr lang="es-ES" dirty="0"/>
            </a:br>
            <a:r>
              <a:rPr lang="es-ES" sz="2400" dirty="0"/>
              <a:t>CREACIÓN DE CLASES</a:t>
            </a:r>
            <a:endParaRPr dirty="0"/>
          </a:p>
        </p:txBody>
      </p:sp>
      <p:sp>
        <p:nvSpPr>
          <p:cNvPr id="501" name="Google Shape;501;g3a591f79c51_0_318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502" name="Google Shape;502;g3a591f79c51_0_318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Se crean las clases dentro de los paquetes </a:t>
            </a:r>
            <a:r>
              <a:rPr lang="es-ES" i="1" dirty="0" err="1">
                <a:solidFill>
                  <a:schemeClr val="dk1"/>
                </a:solidFill>
              </a:rPr>
              <a:t>model</a:t>
            </a:r>
            <a:r>
              <a:rPr lang="es-ES" i="1" dirty="0">
                <a:solidFill>
                  <a:schemeClr val="dk1"/>
                </a:solidFill>
              </a:rPr>
              <a:t>, </a:t>
            </a:r>
            <a:r>
              <a:rPr lang="es-ES" i="1" dirty="0" err="1">
                <a:solidFill>
                  <a:schemeClr val="dk1"/>
                </a:solidFill>
              </a:rPr>
              <a:t>controller</a:t>
            </a:r>
            <a:r>
              <a:rPr lang="es-ES" i="1" dirty="0">
                <a:solidFill>
                  <a:schemeClr val="dk1"/>
                </a:solidFill>
              </a:rPr>
              <a:t>, </a:t>
            </a:r>
            <a:r>
              <a:rPr lang="es-ES" i="1" dirty="0" err="1">
                <a:solidFill>
                  <a:schemeClr val="dk1"/>
                </a:solidFill>
              </a:rPr>
              <a:t>view</a:t>
            </a:r>
            <a:endParaRPr i="1" dirty="0">
              <a:solidFill>
                <a:schemeClr val="dk1"/>
              </a:solidFill>
            </a:endParaRPr>
          </a:p>
        </p:txBody>
      </p:sp>
      <p:sp>
        <p:nvSpPr>
          <p:cNvPr id="503" name="Google Shape;503;g3a591f79c51_0_31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8" name="Google Shape;508;g3a591f79c51_0_31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509" name="Google Shape;509;g3a591f79c51_0_31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510" name="Google Shape;510;g3a591f79c51_0_31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3F5ADB4-C6AD-7B70-2BEB-DC357802D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51" y="3252470"/>
            <a:ext cx="4317097" cy="69630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2346EF7-0625-C9C4-EEB0-03E2E8D75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169" y="3252470"/>
            <a:ext cx="3698158" cy="696306"/>
          </a:xfrm>
          <a:prstGeom prst="rect">
            <a:avLst/>
          </a:prstGeom>
        </p:spPr>
      </p:pic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D6C8879D-C38C-098A-1F86-EC66284D564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2554"/>
          <a:stretch/>
        </p:blipFill>
        <p:spPr bwMode="auto">
          <a:xfrm>
            <a:off x="2774090" y="4413593"/>
            <a:ext cx="3698158" cy="10402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a591f79c51_0_3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CONSOLA</a:t>
            </a:r>
            <a:br>
              <a:rPr lang="es-ES"/>
            </a:br>
            <a:r>
              <a:rPr lang="es-ES" sz="2400"/>
              <a:t>EJECUCIÓN DEL CLIENTE CONSOLA</a:t>
            </a:r>
            <a:endParaRPr/>
          </a:p>
        </p:txBody>
      </p:sp>
      <p:sp>
        <p:nvSpPr>
          <p:cNvPr id="516" name="Google Shape;516;g3a591f79c51_0_328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517" name="Google Shape;517;g3a591f79c51_0_328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solidFill>
                  <a:schemeClr val="dk1"/>
                </a:solidFill>
              </a:rPr>
              <a:t>Login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518" name="Google Shape;518;g3a591f79c51_0_32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C48059F4-3BE4-F0A2-1327-954970412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973" y="3261687"/>
            <a:ext cx="6020064" cy="159774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a653964955_0_15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CONSOLA</a:t>
            </a:r>
            <a:br>
              <a:rPr lang="es-ES"/>
            </a:br>
            <a:r>
              <a:rPr lang="es-ES" sz="2400"/>
              <a:t>EJECUCIÓN DEL CLIENTE CONSOLA</a:t>
            </a:r>
            <a:endParaRPr/>
          </a:p>
        </p:txBody>
      </p:sp>
      <p:sp>
        <p:nvSpPr>
          <p:cNvPr id="525" name="Google Shape;525;g3a653964955_0_151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526" name="Google Shape;526;g3a653964955_0_151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Depósito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527" name="Google Shape;527;g3a653964955_0_151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29" name="Google Shape;529;g3a653964955_0_151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A6B36B2-5DB6-1C95-C0C8-5CA70B05B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495" y="3053995"/>
            <a:ext cx="6307590" cy="212185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a653964955_0_15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CONSOLA</a:t>
            </a:r>
            <a:br>
              <a:rPr lang="es-ES"/>
            </a:br>
            <a:r>
              <a:rPr lang="es-ES" sz="2400"/>
              <a:t>EJECUCIÓN DEL CLIENTE CONSOLA</a:t>
            </a:r>
            <a:endParaRPr/>
          </a:p>
        </p:txBody>
      </p:sp>
      <p:sp>
        <p:nvSpPr>
          <p:cNvPr id="535" name="Google Shape;535;g3a653964955_0_159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536" name="Google Shape;536;g3a653964955_0_159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Retiro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537" name="Google Shape;537;g3a653964955_0_159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39" name="Google Shape;539;g3a653964955_0_159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69329D96-0B46-4664-AEBD-176A87A53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2988802"/>
            <a:ext cx="7713264" cy="22866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a653964955_0_16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CONSOLA</a:t>
            </a:r>
            <a:br>
              <a:rPr lang="es-ES"/>
            </a:br>
            <a:r>
              <a:rPr lang="es-ES" sz="2400"/>
              <a:t>EJECUCIÓN DEL CLIENTE CONSOLA</a:t>
            </a:r>
            <a:endParaRPr/>
          </a:p>
        </p:txBody>
      </p:sp>
      <p:sp>
        <p:nvSpPr>
          <p:cNvPr id="545" name="Google Shape;545;g3a653964955_0_167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546" name="Google Shape;546;g3a653964955_0_167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Transferencia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547" name="Google Shape;547;g3a653964955_0_167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9" name="Google Shape;549;g3a653964955_0_167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D28F3A43-9FB5-C91B-773E-E027A9BC1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377" y="3060493"/>
            <a:ext cx="7135499" cy="239628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a653964955_0_17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CONSOLA</a:t>
            </a:r>
            <a:br>
              <a:rPr lang="es-ES"/>
            </a:br>
            <a:r>
              <a:rPr lang="es-ES" sz="2400"/>
              <a:t>EJECUCIÓN DEL CLIENTE CONSOLA</a:t>
            </a:r>
            <a:endParaRPr/>
          </a:p>
        </p:txBody>
      </p:sp>
      <p:sp>
        <p:nvSpPr>
          <p:cNvPr id="555" name="Google Shape;555;g3a653964955_0_175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556" name="Google Shape;556;g3a653964955_0_175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Historial de Movimientos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557" name="Google Shape;557;g3a653964955_0_175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9" name="Google Shape;559;g3a653964955_0_175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Tabla&#10;&#10;El contenido generado por IA puede ser incorrecto.">
            <a:extLst>
              <a:ext uri="{FF2B5EF4-FFF2-40B4-BE49-F238E27FC236}">
                <a16:creationId xmlns:a16="http://schemas.microsoft.com/office/drawing/2014/main" id="{1409E559-8B46-603D-D853-2F853F92A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035" y="2912324"/>
            <a:ext cx="5887126" cy="264295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a653964955_0_54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CONSOLA</a:t>
            </a:r>
            <a:br>
              <a:rPr lang="es-ES"/>
            </a:br>
            <a:r>
              <a:rPr lang="es-ES" sz="2400"/>
              <a:t>EJECUCIÓN DEL CLIENTE CONSOLA</a:t>
            </a:r>
            <a:endParaRPr/>
          </a:p>
        </p:txBody>
      </p:sp>
      <p:sp>
        <p:nvSpPr>
          <p:cNvPr id="565" name="Google Shape;565;g3a653964955_0_540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566" name="Google Shape;566;g3a653964955_0_540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Balances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567" name="Google Shape;567;g3a653964955_0_54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9" name="Google Shape;569;g3a653964955_0_54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Tabla&#10;&#10;El contenido generado por IA puede ser incorrecto.">
            <a:extLst>
              <a:ext uri="{FF2B5EF4-FFF2-40B4-BE49-F238E27FC236}">
                <a16:creationId xmlns:a16="http://schemas.microsoft.com/office/drawing/2014/main" id="{844B58D9-6277-C0B4-64F2-4C15A35E7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28" y="3078132"/>
            <a:ext cx="7315929" cy="24181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5" name="Google Shape;625;p17"/>
          <p:cNvSpPr/>
          <p:nvPr/>
        </p:nvSpPr>
        <p:spPr>
          <a:xfrm>
            <a:off x="581190" y="457201"/>
            <a:ext cx="7363959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8239774" y="453643"/>
            <a:ext cx="329184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581189" y="681070"/>
            <a:ext cx="7363960" cy="56933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8" name="Google Shape;628;p17"/>
          <p:cNvSpPr txBox="1">
            <a:spLocks noGrp="1"/>
          </p:cNvSpPr>
          <p:nvPr>
            <p:ph type="title"/>
          </p:nvPr>
        </p:nvSpPr>
        <p:spPr>
          <a:xfrm>
            <a:off x="996381" y="1152939"/>
            <a:ext cx="6583680" cy="4539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ill Sans"/>
              <a:buNone/>
            </a:pPr>
            <a:r>
              <a:rPr lang="es-ES" sz="5400">
                <a:solidFill>
                  <a:srgbClr val="FFFFFF"/>
                </a:solidFill>
              </a:rPr>
              <a:t>APLICACIÓN CLIENTE ESCRITORIO</a:t>
            </a:r>
            <a:endParaRPr/>
          </a:p>
        </p:txBody>
      </p:sp>
      <p:sp>
        <p:nvSpPr>
          <p:cNvPr id="629" name="Google Shape;629;p17"/>
          <p:cNvSpPr txBox="1"/>
          <p:nvPr/>
        </p:nvSpPr>
        <p:spPr>
          <a:xfrm>
            <a:off x="11687695" y="6457890"/>
            <a:ext cx="50430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653964955_0_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635" name="Google Shape;635;g3a653964955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ESCRITORIO</a:t>
            </a:r>
            <a:br>
              <a:rPr lang="es-ES"/>
            </a:br>
            <a:r>
              <a:rPr lang="es-ES" sz="2400"/>
              <a:t>CREACIÓN DEL PROYECTO</a:t>
            </a:r>
            <a:endParaRPr/>
          </a:p>
        </p:txBody>
      </p:sp>
      <p:sp>
        <p:nvSpPr>
          <p:cNvPr id="636" name="Google Shape;636;g3a653964955_0_0"/>
          <p:cNvSpPr txBox="1"/>
          <p:nvPr/>
        </p:nvSpPr>
        <p:spPr>
          <a:xfrm>
            <a:off x="11696007" y="6457890"/>
            <a:ext cx="49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15</a:t>
            </a:r>
            <a:endParaRPr/>
          </a:p>
        </p:txBody>
      </p:sp>
      <p:sp>
        <p:nvSpPr>
          <p:cNvPr id="637" name="Google Shape;637;g3a653964955_0_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638" name="Google Shape;638;g3a653964955_0_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9" name="Google Shape;639;g3a653964955_0_0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solidFill>
                  <a:schemeClr val="dk1"/>
                </a:solidFill>
              </a:rPr>
              <a:t>Este se aloja en la carpeta 02. CLIESC. Se crea como ‘Java Application’ en Netbeans</a:t>
            </a:r>
            <a:endParaRPr/>
          </a:p>
        </p:txBody>
      </p:sp>
      <p:pic>
        <p:nvPicPr>
          <p:cNvPr id="640" name="Google Shape;640;g3a65396495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788" y="2743079"/>
            <a:ext cx="5432168" cy="3810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a653964955_0_1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646" name="Google Shape;646;g3a653964955_0_1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ESCRITORIO</a:t>
            </a:r>
            <a:br>
              <a:rPr lang="es-ES"/>
            </a:br>
            <a:r>
              <a:rPr lang="es-ES" sz="2400"/>
              <a:t>ESTRUCTURA DEL PROYECTO</a:t>
            </a:r>
            <a:endParaRPr/>
          </a:p>
        </p:txBody>
      </p:sp>
      <p:sp>
        <p:nvSpPr>
          <p:cNvPr id="647" name="Google Shape;647;g3a653964955_0_10"/>
          <p:cNvSpPr txBox="1"/>
          <p:nvPr/>
        </p:nvSpPr>
        <p:spPr>
          <a:xfrm>
            <a:off x="11696007" y="6457890"/>
            <a:ext cx="49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15</a:t>
            </a:r>
            <a:endParaRPr/>
          </a:p>
        </p:txBody>
      </p:sp>
      <p:sp>
        <p:nvSpPr>
          <p:cNvPr id="648" name="Google Shape;648;g3a653964955_0_1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649" name="Google Shape;649;g3a653964955_0_1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0" name="Google Shape;650;g3a653964955_0_10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solidFill>
                  <a:schemeClr val="dk1"/>
                </a:solidFill>
              </a:rPr>
              <a:t>Se crean los paquetes necesarios dentro de </a:t>
            </a:r>
            <a:r>
              <a:rPr lang="es-ES" i="1">
                <a:solidFill>
                  <a:schemeClr val="dk1"/>
                </a:solidFill>
              </a:rPr>
              <a:t>Source Packages </a:t>
            </a:r>
            <a:r>
              <a:rPr lang="es-ES">
                <a:solidFill>
                  <a:schemeClr val="dk1"/>
                </a:solidFill>
              </a:rPr>
              <a:t>siguiendo el patrón  MVC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2" name="Google Shape;652;g3a653964955_0_1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653" name="Google Shape;653;g3a653964955_0_1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654" name="Google Shape;654;g3a653964955_0_1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D90B656-61CD-698C-A6DB-453CFCF09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564" y="3254027"/>
            <a:ext cx="5062555" cy="164321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a653964955_0_2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ESCRITORIO</a:t>
            </a:r>
            <a:br>
              <a:rPr lang="es-ES"/>
            </a:br>
            <a:r>
              <a:rPr lang="es-ES" sz="2400"/>
              <a:t>CREACIÓN DE CLASES</a:t>
            </a:r>
            <a:endParaRPr/>
          </a:p>
        </p:txBody>
      </p:sp>
      <p:sp>
        <p:nvSpPr>
          <p:cNvPr id="660" name="Google Shape;660;g3a653964955_0_20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661" name="Google Shape;661;g3a653964955_0_20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Se crean las clases dentro de los paquetes </a:t>
            </a:r>
            <a:r>
              <a:rPr lang="es-ES" i="1" dirty="0" err="1">
                <a:solidFill>
                  <a:schemeClr val="dk1"/>
                </a:solidFill>
              </a:rPr>
              <a:t>model</a:t>
            </a:r>
            <a:r>
              <a:rPr lang="es-ES" i="1" dirty="0">
                <a:solidFill>
                  <a:schemeClr val="dk1"/>
                </a:solidFill>
              </a:rPr>
              <a:t> y </a:t>
            </a:r>
            <a:r>
              <a:rPr lang="es-ES" i="1" dirty="0" err="1">
                <a:solidFill>
                  <a:schemeClr val="dk1"/>
                </a:solidFill>
              </a:rPr>
              <a:t>view</a:t>
            </a:r>
            <a:endParaRPr i="1" dirty="0">
              <a:solidFill>
                <a:schemeClr val="dk1"/>
              </a:solidFill>
            </a:endParaRPr>
          </a:p>
        </p:txBody>
      </p:sp>
      <p:sp>
        <p:nvSpPr>
          <p:cNvPr id="662" name="Google Shape;662;g3a653964955_0_2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67" name="Google Shape;667;g3a653964955_0_2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668" name="Google Shape;668;g3a653964955_0_2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669" name="Google Shape;669;g3a653964955_0_2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Una captura de pantalla de un celular con texto e imagen&#10;&#10;El contenido generado por IA puede ser incorrecto.">
            <a:extLst>
              <a:ext uri="{FF2B5EF4-FFF2-40B4-BE49-F238E27FC236}">
                <a16:creationId xmlns:a16="http://schemas.microsoft.com/office/drawing/2014/main" id="{79F3184F-3905-3726-4A6A-7BF9231E2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276" y="4052887"/>
            <a:ext cx="2724150" cy="485775"/>
          </a:xfrm>
          <a:prstGeom prst="rect">
            <a:avLst/>
          </a:prstGeom>
        </p:spPr>
      </p:pic>
      <p:pic>
        <p:nvPicPr>
          <p:cNvPr id="3" name="Imagen 2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22DBDCCE-9163-07E0-5E2E-63CA46F7A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892" y="3429000"/>
            <a:ext cx="3067050" cy="17335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a653964955_0_31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ESCRITORIO</a:t>
            </a:r>
            <a:br>
              <a:rPr lang="es-ES"/>
            </a:br>
            <a:r>
              <a:rPr lang="es-ES" sz="2400"/>
              <a:t>EJECUCIÓN DEL CLIENTE ESCRITORIO</a:t>
            </a:r>
            <a:endParaRPr/>
          </a:p>
        </p:txBody>
      </p:sp>
      <p:sp>
        <p:nvSpPr>
          <p:cNvPr id="675" name="Google Shape;675;g3a653964955_0_314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676" name="Google Shape;676;g3a653964955_0_314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solidFill>
                  <a:schemeClr val="dk1"/>
                </a:solidFill>
              </a:rPr>
              <a:t>Login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677" name="Google Shape;677;g3a653964955_0_314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9" name="Google Shape;679;g3a653964955_0_314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680" name="Google Shape;680;g3a653964955_0_314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681" name="Google Shape;681;g3a653964955_0_314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8D917C4-7B12-5DF1-AC30-86E373F49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203" y="2670605"/>
            <a:ext cx="4141271" cy="323858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a653964955_0_32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ESCRITORIO</a:t>
            </a:r>
            <a:br>
              <a:rPr lang="es-ES"/>
            </a:br>
            <a:r>
              <a:rPr lang="es-ES" sz="2400"/>
              <a:t>EJECUCIÓN DEL CLIENTE ESCRITORIO</a:t>
            </a:r>
            <a:endParaRPr/>
          </a:p>
        </p:txBody>
      </p:sp>
      <p:sp>
        <p:nvSpPr>
          <p:cNvPr id="687" name="Google Shape;687;g3a653964955_0_322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688" name="Google Shape;688;g3a653964955_0_322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Depósito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89" name="Google Shape;689;g3a653964955_0_32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91" name="Google Shape;691;g3a653964955_0_32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92" name="Google Shape;692;g3a653964955_0_32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693" name="Google Shape;693;g3a653964955_0_32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694" name="Google Shape;694;g3a653964955_0_32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4583C8E-C846-439F-DF6C-904325FB3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163" y="2743079"/>
            <a:ext cx="3965240" cy="321891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a653964955_0_33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ESCRITORIO</a:t>
            </a:r>
            <a:br>
              <a:rPr lang="es-ES"/>
            </a:br>
            <a:r>
              <a:rPr lang="es-ES" sz="2400"/>
              <a:t>EJECUCIÓN DEL CLIENTE ESCRITORIO</a:t>
            </a:r>
            <a:endParaRPr/>
          </a:p>
        </p:txBody>
      </p:sp>
      <p:sp>
        <p:nvSpPr>
          <p:cNvPr id="700" name="Google Shape;700;g3a653964955_0_330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701" name="Google Shape;701;g3a653964955_0_330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Retiro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702" name="Google Shape;702;g3a653964955_0_33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04" name="Google Shape;704;g3a653964955_0_33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05" name="Google Shape;705;g3a653964955_0_33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706" name="Google Shape;706;g3a653964955_0_33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707" name="Google Shape;707;g3a653964955_0_33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E28137C-EE02-38CC-6A85-41A4C5E11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246" y="2559417"/>
            <a:ext cx="4499159" cy="3596427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a653964955_0_3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ESCRITORIO</a:t>
            </a:r>
            <a:br>
              <a:rPr lang="es-ES"/>
            </a:br>
            <a:r>
              <a:rPr lang="es-ES" sz="2400"/>
              <a:t>EJECUCIÓN DEL CLIENTE ESCRITORIO</a:t>
            </a:r>
            <a:endParaRPr/>
          </a:p>
        </p:txBody>
      </p:sp>
      <p:sp>
        <p:nvSpPr>
          <p:cNvPr id="713" name="Google Shape;713;g3a653964955_0_338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714" name="Google Shape;714;g3a653964955_0_338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Transferencia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715" name="Google Shape;715;g3a653964955_0_33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17" name="Google Shape;717;g3a653964955_0_33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18" name="Google Shape;718;g3a653964955_0_33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719" name="Google Shape;719;g3a653964955_0_33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720" name="Google Shape;720;g3a653964955_0_33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C465E24-023E-7BD2-4175-582AB33B5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675" y="2621443"/>
            <a:ext cx="4281222" cy="3398257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a653964955_0_3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ESCRITORIO</a:t>
            </a:r>
            <a:br>
              <a:rPr lang="es-ES"/>
            </a:br>
            <a:r>
              <a:rPr lang="es-ES" sz="2400"/>
              <a:t>EJECUCIÓN DEL CLIENTE ESCRITORIO</a:t>
            </a:r>
            <a:endParaRPr/>
          </a:p>
        </p:txBody>
      </p:sp>
      <p:sp>
        <p:nvSpPr>
          <p:cNvPr id="726" name="Google Shape;726;g3a653964955_0_346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727" name="Google Shape;727;g3a653964955_0_346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Historial de Movimientos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728" name="Google Shape;728;g3a653964955_0_34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0" name="Google Shape;730;g3a653964955_0_34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1" name="Google Shape;731;g3a653964955_0_34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732" name="Google Shape;732;g3a653964955_0_34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733" name="Google Shape;733;g3a653964955_0_34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BAE1DE7-FB8C-96E2-A046-B3260AB71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095" y="2988802"/>
            <a:ext cx="6499959" cy="293021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a653964955_0_54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ESCRITORIO</a:t>
            </a:r>
            <a:br>
              <a:rPr lang="es-ES"/>
            </a:br>
            <a:r>
              <a:rPr lang="es-ES" sz="2400"/>
              <a:t>EJECUCIÓN DEL CLIENTE ESCRITORIO</a:t>
            </a:r>
            <a:endParaRPr/>
          </a:p>
        </p:txBody>
      </p:sp>
      <p:sp>
        <p:nvSpPr>
          <p:cNvPr id="739" name="Google Shape;739;g3a653964955_0_549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740" name="Google Shape;740;g3a653964955_0_549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Balances</a:t>
            </a:r>
            <a:endParaRPr i="1" dirty="0">
              <a:solidFill>
                <a:schemeClr val="dk1"/>
              </a:solidFill>
            </a:endParaRPr>
          </a:p>
        </p:txBody>
      </p:sp>
      <p:sp>
        <p:nvSpPr>
          <p:cNvPr id="741" name="Google Shape;741;g3a653964955_0_549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3" name="Google Shape;743;g3a653964955_0_549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4" name="Google Shape;744;g3a653964955_0_549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745" name="Google Shape;745;g3a653964955_0_549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746" name="Google Shape;746;g3a653964955_0_549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35DE7640-AF16-573D-7AD6-992DD0BCC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205" y="2686523"/>
            <a:ext cx="4600698" cy="3469321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a653964955_0_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1" name="Google Shape;791;g3a653964955_0_43"/>
          <p:cNvSpPr/>
          <p:nvPr/>
        </p:nvSpPr>
        <p:spPr>
          <a:xfrm>
            <a:off x="581190" y="457201"/>
            <a:ext cx="7364100" cy="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2" name="Google Shape;792;g3a653964955_0_43"/>
          <p:cNvSpPr/>
          <p:nvPr/>
        </p:nvSpPr>
        <p:spPr>
          <a:xfrm>
            <a:off x="8239774" y="453643"/>
            <a:ext cx="3291900" cy="98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3" name="Google Shape;793;g3a653964955_0_43"/>
          <p:cNvSpPr/>
          <p:nvPr/>
        </p:nvSpPr>
        <p:spPr>
          <a:xfrm>
            <a:off x="581189" y="681070"/>
            <a:ext cx="7364100" cy="569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4" name="Google Shape;794;g3a653964955_0_43"/>
          <p:cNvSpPr txBox="1">
            <a:spLocks noGrp="1"/>
          </p:cNvSpPr>
          <p:nvPr>
            <p:ph type="title"/>
          </p:nvPr>
        </p:nvSpPr>
        <p:spPr>
          <a:xfrm>
            <a:off x="996381" y="1152939"/>
            <a:ext cx="6583800" cy="45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ill Sans"/>
              <a:buNone/>
            </a:pPr>
            <a:r>
              <a:rPr lang="es-ES" sz="5400">
                <a:solidFill>
                  <a:srgbClr val="FFFFFF"/>
                </a:solidFill>
              </a:rPr>
              <a:t>APLICACIÓN CLIENTE WEB</a:t>
            </a:r>
            <a:endParaRPr/>
          </a:p>
        </p:txBody>
      </p:sp>
      <p:sp>
        <p:nvSpPr>
          <p:cNvPr id="795" name="Google Shape;795;g3a653964955_0_43"/>
          <p:cNvSpPr txBox="1"/>
          <p:nvPr/>
        </p:nvSpPr>
        <p:spPr>
          <a:xfrm>
            <a:off x="11687695" y="6457890"/>
            <a:ext cx="50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a653964955_0_5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01" name="Google Shape;801;g3a653964955_0_5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WEB</a:t>
            </a:r>
            <a:br>
              <a:rPr lang="es-ES"/>
            </a:br>
            <a:r>
              <a:rPr lang="es-ES" sz="2400"/>
              <a:t>CREACIÓN DEL PROYECTO</a:t>
            </a:r>
            <a:endParaRPr/>
          </a:p>
        </p:txBody>
      </p:sp>
      <p:sp>
        <p:nvSpPr>
          <p:cNvPr id="802" name="Google Shape;802;g3a653964955_0_52"/>
          <p:cNvSpPr txBox="1"/>
          <p:nvPr/>
        </p:nvSpPr>
        <p:spPr>
          <a:xfrm>
            <a:off x="11696007" y="6457890"/>
            <a:ext cx="49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15</a:t>
            </a:r>
            <a:endParaRPr/>
          </a:p>
        </p:txBody>
      </p:sp>
      <p:sp>
        <p:nvSpPr>
          <p:cNvPr id="803" name="Google Shape;803;g3a653964955_0_5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04" name="Google Shape;804;g3a653964955_0_5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5" name="Google Shape;805;g3a653964955_0_52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solidFill>
                  <a:schemeClr val="dk1"/>
                </a:solidFill>
              </a:rPr>
              <a:t>Este se aloja en la carpeta 02. CLIESC. Se crea como ‘Web Application’ en Netbeans</a:t>
            </a:r>
            <a:endParaRPr/>
          </a:p>
        </p:txBody>
      </p:sp>
      <p:pic>
        <p:nvPicPr>
          <p:cNvPr id="806" name="Google Shape;806;g3a653964955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6225" y="2743200"/>
            <a:ext cx="5267300" cy="372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a653964955_0_6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12" name="Google Shape;812;g3a653964955_0_6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WEB</a:t>
            </a:r>
            <a:br>
              <a:rPr lang="es-ES"/>
            </a:br>
            <a:r>
              <a:rPr lang="es-ES" sz="2400"/>
              <a:t>ESTRUCTURA DEL PROYECTO</a:t>
            </a:r>
            <a:endParaRPr/>
          </a:p>
        </p:txBody>
      </p:sp>
      <p:sp>
        <p:nvSpPr>
          <p:cNvPr id="813" name="Google Shape;813;g3a653964955_0_62"/>
          <p:cNvSpPr txBox="1"/>
          <p:nvPr/>
        </p:nvSpPr>
        <p:spPr>
          <a:xfrm>
            <a:off x="11696007" y="6457890"/>
            <a:ext cx="49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15</a:t>
            </a:r>
            <a:endParaRPr/>
          </a:p>
        </p:txBody>
      </p:sp>
      <p:sp>
        <p:nvSpPr>
          <p:cNvPr id="814" name="Google Shape;814;g3a653964955_0_6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15" name="Google Shape;815;g3a653964955_0_6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6" name="Google Shape;816;g3a653964955_0_62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solidFill>
                  <a:schemeClr val="dk1"/>
                </a:solidFill>
              </a:rPr>
              <a:t>Se crean los paquetes necesarios dentro de </a:t>
            </a:r>
            <a:r>
              <a:rPr lang="es-ES" i="1">
                <a:solidFill>
                  <a:schemeClr val="dk1"/>
                </a:solidFill>
              </a:rPr>
              <a:t>Source Packages </a:t>
            </a:r>
            <a:r>
              <a:rPr lang="es-ES">
                <a:solidFill>
                  <a:schemeClr val="dk1"/>
                </a:solidFill>
              </a:rPr>
              <a:t>siguiendo el patrón  MVC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8" name="Google Shape;818;g3a653964955_0_6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19" name="Google Shape;819;g3a653964955_0_6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20" name="Google Shape;820;g3a653964955_0_6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CB98B612-569E-C734-569A-2A94E4F05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048" y="3391965"/>
            <a:ext cx="5039031" cy="131014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a653964955_0_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WEB</a:t>
            </a:r>
            <a:br>
              <a:rPr lang="es-ES"/>
            </a:br>
            <a:r>
              <a:rPr lang="es-ES" sz="2400"/>
              <a:t>CREACIÓN DE CLASES</a:t>
            </a:r>
            <a:endParaRPr/>
          </a:p>
        </p:txBody>
      </p:sp>
      <p:sp>
        <p:nvSpPr>
          <p:cNvPr id="826" name="Google Shape;826;g3a653964955_0_72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827" name="Google Shape;827;g3a653964955_0_72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Se crean las clases dentro de los paquetes </a:t>
            </a:r>
            <a:r>
              <a:rPr lang="es-ES" i="1" dirty="0" err="1">
                <a:solidFill>
                  <a:schemeClr val="dk1"/>
                </a:solidFill>
              </a:rPr>
              <a:t>controller</a:t>
            </a:r>
            <a:r>
              <a:rPr lang="es-ES" i="1" dirty="0">
                <a:solidFill>
                  <a:schemeClr val="dk1"/>
                </a:solidFill>
              </a:rPr>
              <a:t>, </a:t>
            </a:r>
            <a:r>
              <a:rPr lang="es-ES" i="1" dirty="0" err="1">
                <a:solidFill>
                  <a:schemeClr val="dk1"/>
                </a:solidFill>
              </a:rPr>
              <a:t>service</a:t>
            </a:r>
            <a:r>
              <a:rPr lang="es-ES" i="1" dirty="0">
                <a:solidFill>
                  <a:schemeClr val="dk1"/>
                </a:solidFill>
              </a:rPr>
              <a:t> y Web Pages</a:t>
            </a:r>
            <a:endParaRPr i="1" dirty="0">
              <a:solidFill>
                <a:schemeClr val="dk1"/>
              </a:solidFill>
            </a:endParaRPr>
          </a:p>
        </p:txBody>
      </p:sp>
      <p:sp>
        <p:nvSpPr>
          <p:cNvPr id="828" name="Google Shape;828;g3a653964955_0_7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3" name="Google Shape;833;g3a653964955_0_7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34" name="Google Shape;834;g3a653964955_0_7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35" name="Google Shape;835;g3a653964955_0_7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963EF0F8-8504-A292-A828-BB43B403F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92" y="2988802"/>
            <a:ext cx="2857500" cy="1295400"/>
          </a:xfrm>
          <a:prstGeom prst="rect">
            <a:avLst/>
          </a:prstGeom>
        </p:spPr>
      </p:pic>
      <p:pic>
        <p:nvPicPr>
          <p:cNvPr id="3" name="Imagen 2" descr="Una captura de pantalla de un celular con texto e imagen&#10;&#10;El contenido generado por IA puede ser incorrecto.">
            <a:extLst>
              <a:ext uri="{FF2B5EF4-FFF2-40B4-BE49-F238E27FC236}">
                <a16:creationId xmlns:a16="http://schemas.microsoft.com/office/drawing/2014/main" id="{2D39BAD9-6256-0922-3303-155705686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841" y="3131677"/>
            <a:ext cx="2505075" cy="50482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98C6221-F047-A9AA-D824-998B7DDD5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773" y="4284202"/>
            <a:ext cx="2644140" cy="169989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a653964955_0_40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WEB</a:t>
            </a:r>
            <a:br>
              <a:rPr lang="es-ES"/>
            </a:br>
            <a:r>
              <a:rPr lang="es-ES" sz="2400"/>
              <a:t>EJECUCIÓN DEL CLIENTE WEB</a:t>
            </a:r>
            <a:endParaRPr/>
          </a:p>
        </p:txBody>
      </p:sp>
      <p:sp>
        <p:nvSpPr>
          <p:cNvPr id="841" name="Google Shape;841;g3a653964955_0_404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842" name="Google Shape;842;g3a653964955_0_404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solidFill>
                  <a:schemeClr val="dk1"/>
                </a:solidFill>
              </a:rPr>
              <a:t>Login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843" name="Google Shape;843;g3a653964955_0_404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5" name="Google Shape;845;g3a653964955_0_404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46" name="Google Shape;846;g3a653964955_0_404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47" name="Google Shape;847;g3a653964955_0_404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a653964955_0_41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WEB</a:t>
            </a:r>
            <a:br>
              <a:rPr lang="es-ES"/>
            </a:br>
            <a:r>
              <a:rPr lang="es-ES" sz="2400"/>
              <a:t>EJECUCIÓN DEL CLIENTE WEB</a:t>
            </a:r>
            <a:endParaRPr/>
          </a:p>
        </p:txBody>
      </p:sp>
      <p:sp>
        <p:nvSpPr>
          <p:cNvPr id="853" name="Google Shape;853;g3a653964955_0_412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854" name="Google Shape;854;g3a653964955_0_412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Depósito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55" name="Google Shape;855;g3a653964955_0_41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7" name="Google Shape;857;g3a653964955_0_41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8" name="Google Shape;858;g3a653964955_0_41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59" name="Google Shape;859;g3a653964955_0_41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60" name="Google Shape;860;g3a653964955_0_41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MX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a653964955_0_42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WEB</a:t>
            </a:r>
            <a:br>
              <a:rPr lang="es-ES"/>
            </a:br>
            <a:r>
              <a:rPr lang="es-ES" sz="2400"/>
              <a:t>EJECUCIÓN DEL CLIENTE WEB</a:t>
            </a:r>
            <a:endParaRPr/>
          </a:p>
        </p:txBody>
      </p:sp>
      <p:sp>
        <p:nvSpPr>
          <p:cNvPr id="866" name="Google Shape;866;g3a653964955_0_420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867" name="Google Shape;867;g3a653964955_0_420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Retiro</a:t>
            </a:r>
            <a:endParaRPr i="1" dirty="0">
              <a:solidFill>
                <a:schemeClr val="dk1"/>
              </a:solidFill>
            </a:endParaRPr>
          </a:p>
        </p:txBody>
      </p:sp>
      <p:sp>
        <p:nvSpPr>
          <p:cNvPr id="868" name="Google Shape;868;g3a653964955_0_42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0" name="Google Shape;870;g3a653964955_0_42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1" name="Google Shape;871;g3a653964955_0_42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72" name="Google Shape;872;g3a653964955_0_42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73" name="Google Shape;873;g3a653964955_0_42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a653964955_0_4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WEB</a:t>
            </a:r>
            <a:br>
              <a:rPr lang="es-ES"/>
            </a:br>
            <a:r>
              <a:rPr lang="es-ES" sz="2400"/>
              <a:t>EJECUCIÓN DEL CLIENTE WEB</a:t>
            </a:r>
            <a:endParaRPr/>
          </a:p>
        </p:txBody>
      </p:sp>
      <p:sp>
        <p:nvSpPr>
          <p:cNvPr id="879" name="Google Shape;879;g3a653964955_0_428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880" name="Google Shape;880;g3a653964955_0_428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 err="1">
                <a:solidFill>
                  <a:schemeClr val="dk1"/>
                </a:solidFill>
              </a:rPr>
              <a:t>Tranferencia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81" name="Google Shape;881;g3a653964955_0_42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3" name="Google Shape;883;g3a653964955_0_42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4" name="Google Shape;884;g3a653964955_0_42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85" name="Google Shape;885;g3a653964955_0_42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86" name="Google Shape;886;g3a653964955_0_42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a653964955_0_43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WEB</a:t>
            </a:r>
            <a:br>
              <a:rPr lang="es-ES"/>
            </a:br>
            <a:r>
              <a:rPr lang="es-ES" sz="2400"/>
              <a:t>EJECUCIÓN DEL CLIENTE WEB</a:t>
            </a:r>
            <a:endParaRPr/>
          </a:p>
        </p:txBody>
      </p:sp>
      <p:sp>
        <p:nvSpPr>
          <p:cNvPr id="892" name="Google Shape;892;g3a653964955_0_436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893" name="Google Shape;893;g3a653964955_0_436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Historial de Movimientos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94" name="Google Shape;894;g3a653964955_0_43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6" name="Google Shape;896;g3a653964955_0_43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7" name="Google Shape;897;g3a653964955_0_43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98" name="Google Shape;898;g3a653964955_0_43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899" name="Google Shape;899;g3a653964955_0_43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a653964955_0_55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WEB</a:t>
            </a:r>
            <a:br>
              <a:rPr lang="es-ES"/>
            </a:br>
            <a:r>
              <a:rPr lang="es-ES" sz="2400"/>
              <a:t>EJECUCIÓN DEL CLIENTE WEB</a:t>
            </a:r>
            <a:endParaRPr/>
          </a:p>
        </p:txBody>
      </p:sp>
      <p:sp>
        <p:nvSpPr>
          <p:cNvPr id="905" name="Google Shape;905;g3a653964955_0_558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906" name="Google Shape;906;g3a653964955_0_558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Balances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907" name="Google Shape;907;g3a653964955_0_55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09" name="Google Shape;909;g3a653964955_0_55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10" name="Google Shape;910;g3a653964955_0_55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911" name="Google Shape;911;g3a653964955_0_55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912" name="Google Shape;912;g3a653964955_0_55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a653964955_0_9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57" name="Google Shape;957;g3a653964955_0_97"/>
          <p:cNvSpPr/>
          <p:nvPr/>
        </p:nvSpPr>
        <p:spPr>
          <a:xfrm>
            <a:off x="581190" y="457201"/>
            <a:ext cx="7364100" cy="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58" name="Google Shape;958;g3a653964955_0_97"/>
          <p:cNvSpPr/>
          <p:nvPr/>
        </p:nvSpPr>
        <p:spPr>
          <a:xfrm>
            <a:off x="8239774" y="453643"/>
            <a:ext cx="3291900" cy="98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59" name="Google Shape;959;g3a653964955_0_97"/>
          <p:cNvSpPr/>
          <p:nvPr/>
        </p:nvSpPr>
        <p:spPr>
          <a:xfrm>
            <a:off x="581189" y="681070"/>
            <a:ext cx="7364100" cy="569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60" name="Google Shape;960;g3a653964955_0_97"/>
          <p:cNvSpPr txBox="1">
            <a:spLocks noGrp="1"/>
          </p:cNvSpPr>
          <p:nvPr>
            <p:ph type="title"/>
          </p:nvPr>
        </p:nvSpPr>
        <p:spPr>
          <a:xfrm>
            <a:off x="996381" y="1152939"/>
            <a:ext cx="6583800" cy="45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ill Sans"/>
              <a:buNone/>
            </a:pPr>
            <a:r>
              <a:rPr lang="es-ES" sz="5400">
                <a:solidFill>
                  <a:srgbClr val="FFFFFF"/>
                </a:solidFill>
              </a:rPr>
              <a:t>APLICACIÓN CLIENTE MÓVIL</a:t>
            </a:r>
            <a:endParaRPr/>
          </a:p>
        </p:txBody>
      </p:sp>
      <p:sp>
        <p:nvSpPr>
          <p:cNvPr id="961" name="Google Shape;961;g3a653964955_0_97"/>
          <p:cNvSpPr txBox="1"/>
          <p:nvPr/>
        </p:nvSpPr>
        <p:spPr>
          <a:xfrm>
            <a:off x="11687695" y="6457890"/>
            <a:ext cx="50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a653964955_0_10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967" name="Google Shape;967;g3a653964955_0_10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MÓVIL</a:t>
            </a:r>
            <a:br>
              <a:rPr lang="es-ES"/>
            </a:br>
            <a:r>
              <a:rPr lang="es-ES" sz="2400"/>
              <a:t>CREACIÓN DEL PROYECTO</a:t>
            </a:r>
            <a:endParaRPr/>
          </a:p>
        </p:txBody>
      </p:sp>
      <p:sp>
        <p:nvSpPr>
          <p:cNvPr id="968" name="Google Shape;968;g3a653964955_0_106"/>
          <p:cNvSpPr txBox="1"/>
          <p:nvPr/>
        </p:nvSpPr>
        <p:spPr>
          <a:xfrm>
            <a:off x="11696007" y="6457890"/>
            <a:ext cx="49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15</a:t>
            </a:r>
            <a:endParaRPr/>
          </a:p>
        </p:txBody>
      </p:sp>
      <p:sp>
        <p:nvSpPr>
          <p:cNvPr id="969" name="Google Shape;969;g3a653964955_0_10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970" name="Google Shape;970;g3a653964955_0_10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1" name="Google Shape;971;g3a653964955_0_106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solidFill>
                  <a:schemeClr val="dk1"/>
                </a:solidFill>
              </a:rPr>
              <a:t>Este se aloja en la carpeta 02. CLIESC. Se crea como ‘Kotlin’ en Android Studio</a:t>
            </a:r>
            <a:endParaRPr/>
          </a:p>
        </p:txBody>
      </p:sp>
      <p:pic>
        <p:nvPicPr>
          <p:cNvPr id="972" name="Google Shape;972;g3a653964955_0_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0338" y="2647779"/>
            <a:ext cx="5179125" cy="3810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a653964955_0_11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978" name="Google Shape;978;g3a653964955_0_1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MÓVIL</a:t>
            </a:r>
            <a:br>
              <a:rPr lang="es-ES"/>
            </a:br>
            <a:r>
              <a:rPr lang="es-ES" sz="2400"/>
              <a:t>ESTRUCTURA DEL PROYECTO</a:t>
            </a:r>
            <a:endParaRPr/>
          </a:p>
        </p:txBody>
      </p:sp>
      <p:sp>
        <p:nvSpPr>
          <p:cNvPr id="979" name="Google Shape;979;g3a653964955_0_116"/>
          <p:cNvSpPr txBox="1"/>
          <p:nvPr/>
        </p:nvSpPr>
        <p:spPr>
          <a:xfrm>
            <a:off x="11696007" y="6457890"/>
            <a:ext cx="49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15</a:t>
            </a:r>
            <a:endParaRPr/>
          </a:p>
        </p:txBody>
      </p:sp>
      <p:sp>
        <p:nvSpPr>
          <p:cNvPr id="980" name="Google Shape;980;g3a653964955_0_11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981" name="Google Shape;981;g3a653964955_0_11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2" name="Google Shape;982;g3a653964955_0_116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Se crean los paquetes necesarios dentro de </a:t>
            </a:r>
            <a:r>
              <a:rPr lang="es-ES" i="1" dirty="0">
                <a:solidFill>
                  <a:schemeClr val="dk1"/>
                </a:solidFill>
              </a:rPr>
              <a:t>app </a:t>
            </a:r>
            <a:r>
              <a:rPr lang="es-ES" dirty="0">
                <a:solidFill>
                  <a:schemeClr val="dk1"/>
                </a:solidFill>
              </a:rPr>
              <a:t>siguiendo el patrón  MVC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984" name="Google Shape;984;g3a653964955_0_11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985" name="Google Shape;985;g3a653964955_0_11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986" name="Google Shape;986;g3a653964955_0_11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9EBE062F-914E-E92B-FE87-148088A79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910" y="2743079"/>
            <a:ext cx="2969045" cy="3595967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a653964955_0_1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MÓVIL</a:t>
            </a:r>
            <a:br>
              <a:rPr lang="es-ES"/>
            </a:br>
            <a:r>
              <a:rPr lang="es-ES" sz="2400"/>
              <a:t>CREACIÓN DE CLASES</a:t>
            </a:r>
            <a:endParaRPr/>
          </a:p>
        </p:txBody>
      </p:sp>
      <p:sp>
        <p:nvSpPr>
          <p:cNvPr id="992" name="Google Shape;992;g3a653964955_0_126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993" name="Google Shape;993;g3a653964955_0_126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Se crean las clases dentro de los paquetes </a:t>
            </a:r>
            <a:r>
              <a:rPr lang="es-ES" i="1" dirty="0" err="1">
                <a:solidFill>
                  <a:schemeClr val="dk1"/>
                </a:solidFill>
              </a:rPr>
              <a:t>models</a:t>
            </a:r>
            <a:r>
              <a:rPr lang="es-ES" i="1" dirty="0">
                <a:solidFill>
                  <a:schemeClr val="dk1"/>
                </a:solidFill>
              </a:rPr>
              <a:t>, </a:t>
            </a:r>
            <a:r>
              <a:rPr lang="es-ES" i="1" dirty="0" err="1">
                <a:solidFill>
                  <a:schemeClr val="dk1"/>
                </a:solidFill>
              </a:rPr>
              <a:t>services</a:t>
            </a:r>
            <a:r>
              <a:rPr lang="es-ES" i="1" dirty="0">
                <a:solidFill>
                  <a:schemeClr val="dk1"/>
                </a:solidFill>
              </a:rPr>
              <a:t>, </a:t>
            </a:r>
            <a:r>
              <a:rPr lang="es-ES" i="1" dirty="0" err="1">
                <a:solidFill>
                  <a:schemeClr val="dk1"/>
                </a:solidFill>
              </a:rPr>
              <a:t>repository</a:t>
            </a:r>
            <a:r>
              <a:rPr lang="es-ES" i="1" dirty="0">
                <a:solidFill>
                  <a:schemeClr val="dk1"/>
                </a:solidFill>
              </a:rPr>
              <a:t>  y </a:t>
            </a:r>
            <a:r>
              <a:rPr lang="es-ES" i="1" dirty="0" err="1">
                <a:solidFill>
                  <a:schemeClr val="dk1"/>
                </a:solidFill>
              </a:rPr>
              <a:t>ui</a:t>
            </a:r>
            <a:endParaRPr i="1" dirty="0">
              <a:solidFill>
                <a:schemeClr val="dk1"/>
              </a:solidFill>
            </a:endParaRPr>
          </a:p>
        </p:txBody>
      </p:sp>
      <p:sp>
        <p:nvSpPr>
          <p:cNvPr id="994" name="Google Shape;994;g3a653964955_0_12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9" name="Google Shape;999;g3a653964955_0_12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000" name="Google Shape;1000;g3a653964955_0_12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001" name="Google Shape;1001;g3a653964955_0_12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34B8D9C-22CB-F54A-3CB4-83D1BB856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93" y="2843212"/>
            <a:ext cx="3143250" cy="1171575"/>
          </a:xfrm>
          <a:prstGeom prst="rect">
            <a:avLst/>
          </a:prstGeom>
        </p:spPr>
      </p:pic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506C7BF5-350F-D6EC-EAA0-AD541A210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802" y="2843212"/>
            <a:ext cx="2771775" cy="571500"/>
          </a:xfrm>
          <a:prstGeom prst="rect">
            <a:avLst/>
          </a:prstGeom>
        </p:spPr>
      </p:pic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6784913B-950B-4FF9-EB60-84EA25F9A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593" y="4467165"/>
            <a:ext cx="2743200" cy="19907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1259DE5-F2C3-4A21-0C87-6B4E5FE3DC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247" y="3557210"/>
            <a:ext cx="2513330" cy="290068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a653964955_0_47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MÓVIL</a:t>
            </a:r>
            <a:br>
              <a:rPr lang="es-ES"/>
            </a:br>
            <a:r>
              <a:rPr lang="es-ES" sz="2400"/>
              <a:t>EJECUCIÓN DEL CLIENTE MÓVIL</a:t>
            </a:r>
            <a:endParaRPr/>
          </a:p>
        </p:txBody>
      </p:sp>
      <p:sp>
        <p:nvSpPr>
          <p:cNvPr id="1007" name="Google Shape;1007;g3a653964955_0_476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1008" name="Google Shape;1008;g3a653964955_0_476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>
                <a:solidFill>
                  <a:schemeClr val="dk1"/>
                </a:solidFill>
              </a:rPr>
              <a:t>Login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009" name="Google Shape;1009;g3a653964955_0_47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1" name="Google Shape;1011;g3a653964955_0_47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012" name="Google Shape;1012;g3a653964955_0_47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013" name="Google Shape;1013;g3a653964955_0_476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a653964955_0_48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MÓVIL</a:t>
            </a:r>
            <a:br>
              <a:rPr lang="es-ES"/>
            </a:br>
            <a:r>
              <a:rPr lang="es-ES" sz="2400"/>
              <a:t>EJECUCIÓN DEL CLIENTE MÓVIL</a:t>
            </a:r>
            <a:endParaRPr/>
          </a:p>
        </p:txBody>
      </p:sp>
      <p:sp>
        <p:nvSpPr>
          <p:cNvPr id="1019" name="Google Shape;1019;g3a653964955_0_484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1020" name="Google Shape;1020;g3a653964955_0_484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Depósito</a:t>
            </a:r>
            <a:endParaRPr i="1" dirty="0">
              <a:solidFill>
                <a:schemeClr val="dk1"/>
              </a:solidFill>
            </a:endParaRPr>
          </a:p>
        </p:txBody>
      </p:sp>
      <p:sp>
        <p:nvSpPr>
          <p:cNvPr id="1021" name="Google Shape;1021;g3a653964955_0_484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23" name="Google Shape;1023;g3a653964955_0_484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24" name="Google Shape;1024;g3a653964955_0_484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025" name="Google Shape;1025;g3a653964955_0_484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026" name="Google Shape;1026;g3a653964955_0_484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a653964955_0_49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MÓVIL</a:t>
            </a:r>
            <a:br>
              <a:rPr lang="es-ES"/>
            </a:br>
            <a:r>
              <a:rPr lang="es-ES" sz="2400"/>
              <a:t>EJECUCIÓN DEL CLIENTE MÓVIL</a:t>
            </a:r>
            <a:endParaRPr/>
          </a:p>
        </p:txBody>
      </p:sp>
      <p:sp>
        <p:nvSpPr>
          <p:cNvPr id="1032" name="Google Shape;1032;g3a653964955_0_492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1033" name="Google Shape;1033;g3a653964955_0_492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Retiro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034" name="Google Shape;1034;g3a653964955_0_49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6" name="Google Shape;1036;g3a653964955_0_49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7" name="Google Shape;1037;g3a653964955_0_49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038" name="Google Shape;1038;g3a653964955_0_49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039" name="Google Shape;1039;g3a653964955_0_492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a653964955_0_50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MÓVIL</a:t>
            </a:r>
            <a:br>
              <a:rPr lang="es-ES"/>
            </a:br>
            <a:r>
              <a:rPr lang="es-ES" sz="2400"/>
              <a:t>EJECUCIÓN DEL CLIENTE MÓVIL</a:t>
            </a:r>
            <a:endParaRPr/>
          </a:p>
        </p:txBody>
      </p:sp>
      <p:sp>
        <p:nvSpPr>
          <p:cNvPr id="1045" name="Google Shape;1045;g3a653964955_0_500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1046" name="Google Shape;1046;g3a653964955_0_500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Transferencia</a:t>
            </a:r>
            <a:endParaRPr i="1" dirty="0">
              <a:solidFill>
                <a:schemeClr val="dk1"/>
              </a:solidFill>
            </a:endParaRPr>
          </a:p>
        </p:txBody>
      </p:sp>
      <p:sp>
        <p:nvSpPr>
          <p:cNvPr id="1047" name="Google Shape;1047;g3a653964955_0_50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49" name="Google Shape;1049;g3a653964955_0_50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50" name="Google Shape;1050;g3a653964955_0_50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051" name="Google Shape;1051;g3a653964955_0_50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052" name="Google Shape;1052;g3a653964955_0_50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a653964955_0_50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MÓVIL</a:t>
            </a:r>
            <a:br>
              <a:rPr lang="es-ES"/>
            </a:br>
            <a:r>
              <a:rPr lang="es-ES" sz="2400"/>
              <a:t>EJECUCIÓN DEL CLIENTE MÓVIL</a:t>
            </a:r>
            <a:endParaRPr/>
          </a:p>
        </p:txBody>
      </p:sp>
      <p:sp>
        <p:nvSpPr>
          <p:cNvPr id="1058" name="Google Shape;1058;g3a653964955_0_508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1059" name="Google Shape;1059;g3a653964955_0_508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solidFill>
                  <a:schemeClr val="dk1"/>
                </a:solidFill>
              </a:rPr>
              <a:t>Historial de Movimientos</a:t>
            </a:r>
            <a:endParaRPr i="1" dirty="0">
              <a:solidFill>
                <a:schemeClr val="dk1"/>
              </a:solidFill>
            </a:endParaRPr>
          </a:p>
        </p:txBody>
      </p:sp>
      <p:sp>
        <p:nvSpPr>
          <p:cNvPr id="1060" name="Google Shape;1060;g3a653964955_0_50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2" name="Google Shape;1062;g3a653964955_0_50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3" name="Google Shape;1063;g3a653964955_0_50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064" name="Google Shape;1064;g3a653964955_0_50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065" name="Google Shape;1065;g3a653964955_0_508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a653964955_0_74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APLICACIÓN CLIENTE MÓVIL</a:t>
            </a:r>
            <a:br>
              <a:rPr lang="es-ES"/>
            </a:br>
            <a:r>
              <a:rPr lang="es-ES" sz="2400"/>
              <a:t>EJECUCIÓN DEL CLIENTE MÓVIL</a:t>
            </a:r>
            <a:endParaRPr/>
          </a:p>
        </p:txBody>
      </p:sp>
      <p:sp>
        <p:nvSpPr>
          <p:cNvPr id="1071" name="Google Shape;1071;g3a653964955_0_747"/>
          <p:cNvSpPr txBox="1"/>
          <p:nvPr/>
        </p:nvSpPr>
        <p:spPr>
          <a:xfrm>
            <a:off x="11817675" y="6457890"/>
            <a:ext cx="3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r>
            <a:endParaRPr/>
          </a:p>
        </p:txBody>
      </p:sp>
      <p:sp>
        <p:nvSpPr>
          <p:cNvPr id="1072" name="Google Shape;1072;g3a653964955_0_747"/>
          <p:cNvSpPr txBox="1">
            <a:spLocks noGrp="1"/>
          </p:cNvSpPr>
          <p:nvPr>
            <p:ph type="body" idx="1"/>
          </p:nvPr>
        </p:nvSpPr>
        <p:spPr>
          <a:xfrm>
            <a:off x="461551" y="1961579"/>
            <a:ext cx="8477400" cy="7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solidFill>
                  <a:schemeClr val="dk1"/>
                </a:solidFill>
              </a:rPr>
              <a:t>Balances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073" name="Google Shape;1073;g3a653964955_0_747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4" name="Google Shape;1074;g3a653964955_0_747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5" name="Google Shape;1075;g3a653964955_0_747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076" name="Google Shape;1076;g3a653964955_0_747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077" name="Google Shape;1077;g3a653964955_0_747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00FF00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rgbClr val="00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39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097" name="Google Shape;1097;p3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4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 sz="3600" cap="none"/>
              <a:t>CONCLUSIONES</a:t>
            </a:r>
            <a:endParaRPr/>
          </a:p>
        </p:txBody>
      </p:sp>
      <p:sp>
        <p:nvSpPr>
          <p:cNvPr id="1098" name="Google Shape;1098;p39"/>
          <p:cNvSpPr txBox="1">
            <a:spLocks noGrp="1"/>
          </p:cNvSpPr>
          <p:nvPr>
            <p:ph type="body" idx="1"/>
          </p:nvPr>
        </p:nvSpPr>
        <p:spPr>
          <a:xfrm>
            <a:off x="469864" y="2152772"/>
            <a:ext cx="8477400" cy="37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306000" lvl="0" indent="-306000" algn="just" rtl="0"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❖"/>
            </a:pPr>
            <a:r>
              <a:rPr lang="es-ES" dirty="0">
                <a:solidFill>
                  <a:schemeClr val="dk1"/>
                </a:solidFill>
              </a:rPr>
              <a:t>El patrón de arquitectura Modelo-Vista-Controlador (MVC) permite estructurar proyectos y organizar las clases en base a sus responsabilidades, gracias a esto la implementación de los cuatro clientes fue más simple y organizada, pues las capas de modelo, controlador e incluso la de pruebas no cambian y se pueden reutilizar, esto a excepción del cliente móvil, el cual cambia la sintaxis de programación, pero la lógica sigue siendo la misma. </a:t>
            </a:r>
            <a:endParaRPr dirty="0"/>
          </a:p>
          <a:p>
            <a:pPr marL="306000" lvl="0" indent="-306000" algn="just" rtl="0">
              <a:spcBef>
                <a:spcPts val="960"/>
              </a:spcBef>
              <a:spcAft>
                <a:spcPts val="0"/>
              </a:spcAft>
              <a:buSzPts val="1656"/>
              <a:buFont typeface="Noto Sans Symbols"/>
              <a:buChar char="❖"/>
            </a:pPr>
            <a:r>
              <a:rPr lang="es-ES" sz="1800" dirty="0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s-ES" dirty="0">
                <a:solidFill>
                  <a:schemeClr val="dk1"/>
                </a:solidFill>
              </a:rPr>
              <a:t>NET facilita el consumo de web </a:t>
            </a:r>
            <a:r>
              <a:rPr lang="es-ES" dirty="0" err="1">
                <a:solidFill>
                  <a:schemeClr val="dk1"/>
                </a:solidFill>
              </a:rPr>
              <a:t>services</a:t>
            </a:r>
            <a:r>
              <a:rPr lang="es-ES" dirty="0">
                <a:solidFill>
                  <a:schemeClr val="dk1"/>
                </a:solidFill>
              </a:rPr>
              <a:t> mediante la generación automática de </a:t>
            </a:r>
            <a:r>
              <a:rPr lang="es-ES" dirty="0" err="1">
                <a:solidFill>
                  <a:schemeClr val="dk1"/>
                </a:solidFill>
              </a:rPr>
              <a:t>proxies</a:t>
            </a:r>
            <a:r>
              <a:rPr lang="es-ES" dirty="0">
                <a:solidFill>
                  <a:schemeClr val="dk1"/>
                </a:solidFill>
              </a:rPr>
              <a:t> de cliente que simplifican la comunicación con el servicio. Esto agiliza el desarrollo al proporcionar una interfaz de programación en el lenguaje de programación preferido.</a:t>
            </a:r>
          </a:p>
          <a:p>
            <a:pPr marL="306000" lvl="0" indent="-306000" algn="just" rtl="0">
              <a:spcBef>
                <a:spcPts val="960"/>
              </a:spcBef>
              <a:spcAft>
                <a:spcPts val="0"/>
              </a:spcAft>
              <a:buSzPts val="1656"/>
              <a:buFont typeface="Noto Sans Symbols"/>
              <a:buChar char="❖"/>
            </a:pPr>
            <a:r>
              <a:rPr lang="es-MX" dirty="0">
                <a:solidFill>
                  <a:schemeClr val="dk1"/>
                </a:solidFill>
              </a:rPr>
              <a:t>El despliegue de la base de datos SQL Server en un </a:t>
            </a:r>
            <a:r>
              <a:rPr lang="es-MX" dirty="0" err="1">
                <a:solidFill>
                  <a:schemeClr val="dk1"/>
                </a:solidFill>
              </a:rPr>
              <a:t>Droplet</a:t>
            </a:r>
            <a:r>
              <a:rPr lang="es-MX" dirty="0">
                <a:solidFill>
                  <a:schemeClr val="dk1"/>
                </a:solidFill>
              </a:rPr>
              <a:t> (VPS) de </a:t>
            </a:r>
            <a:r>
              <a:rPr lang="es-MX" dirty="0" err="1">
                <a:solidFill>
                  <a:schemeClr val="dk1"/>
                </a:solidFill>
              </a:rPr>
              <a:t>DigitalOcean</a:t>
            </a:r>
            <a:r>
              <a:rPr lang="es-MX" dirty="0">
                <a:solidFill>
                  <a:schemeClr val="dk1"/>
                </a:solidFill>
              </a:rPr>
              <a:t> centralizó la persistencia de datos, lo cual facilitó significativamente la integración y el consumo de información por parte del servidor de aplicaciones. Esta arquitectura en la nube elimina las dependencias de entornos locales, garantizando una conexión estable, accesible y de alta disponibilidad para realizar las consultas necesarias.</a:t>
            </a:r>
            <a:endParaRPr dirty="0">
              <a:solidFill>
                <a:schemeClr val="dk1"/>
              </a:solidFill>
            </a:endParaRPr>
          </a:p>
          <a:p>
            <a:pPr marL="306000" lvl="0" indent="-200844" algn="just" rtl="0">
              <a:spcBef>
                <a:spcPts val="96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099" name="Google Shape;1099;p39"/>
          <p:cNvSpPr txBox="1"/>
          <p:nvPr/>
        </p:nvSpPr>
        <p:spPr>
          <a:xfrm>
            <a:off x="11696007" y="6457890"/>
            <a:ext cx="49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56</a:t>
            </a:r>
            <a:endParaRPr/>
          </a:p>
        </p:txBody>
      </p:sp>
      <p:sp>
        <p:nvSpPr>
          <p:cNvPr id="1100" name="Google Shape;1100;p39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1" name="Google Shape;1101;p39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102" name="Google Shape;1102;p39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103" name="Google Shape;1103;p39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40"/>
          <p:cNvSpPr txBox="1"/>
          <p:nvPr/>
        </p:nvSpPr>
        <p:spPr>
          <a:xfrm>
            <a:off x="9117367" y="0"/>
            <a:ext cx="307463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109" name="Google Shape;1109;p4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8477350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 sz="3600" cap="none"/>
              <a:t>RECOMENDACIONES</a:t>
            </a:r>
            <a:endParaRPr/>
          </a:p>
        </p:txBody>
      </p:sp>
      <p:sp>
        <p:nvSpPr>
          <p:cNvPr id="1110" name="Google Shape;1110;p40"/>
          <p:cNvSpPr txBox="1">
            <a:spLocks noGrp="1"/>
          </p:cNvSpPr>
          <p:nvPr>
            <p:ph type="body" idx="1"/>
          </p:nvPr>
        </p:nvSpPr>
        <p:spPr>
          <a:xfrm>
            <a:off x="469864" y="2152772"/>
            <a:ext cx="8477350" cy="3799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lvl="0" indent="-306000" algn="just" rtl="0"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❖"/>
            </a:pPr>
            <a:r>
              <a:rPr lang="es-ES" dirty="0"/>
              <a:t>Visual Studio es una herramienta completa y robusta que simplifica el desarrollo de servicios </a:t>
            </a:r>
            <a:r>
              <a:rPr lang="es-ES" dirty="0" err="1"/>
              <a:t>RESTful</a:t>
            </a:r>
            <a:r>
              <a:rPr lang="es-ES" dirty="0"/>
              <a:t> en .NET. Ofrece plantillas predefinidas para crear </a:t>
            </a:r>
            <a:r>
              <a:rPr lang="es-ES" dirty="0" err="1"/>
              <a:t>APIs</a:t>
            </a:r>
            <a:r>
              <a:rPr lang="es-ES" dirty="0"/>
              <a:t> web, lo que permite iniciar proyectos con una estructura base optimizada y configuraciones esenciales listas para usar. Además, su integración con el ecosistema .NET garantiza una experiencia fluida al trabajar con tecnologías como ASP.NET Core, </a:t>
            </a:r>
            <a:r>
              <a:rPr lang="es-ES" dirty="0" err="1"/>
              <a:t>Entity</a:t>
            </a:r>
            <a:r>
              <a:rPr lang="es-ES" dirty="0"/>
              <a:t> Framework y librerías de terceros, reduciendo el tiempo de desarrollo y minimizando errores en configuraciones iniciales.</a:t>
            </a:r>
          </a:p>
          <a:p>
            <a:pPr marL="306000" lvl="0" indent="-306000" algn="just" rtl="0"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❖"/>
            </a:pPr>
            <a:r>
              <a:rPr lang="es-MX" dirty="0"/>
              <a:t>Para optimizar la portabilidad y el despliegue, se sugiere utilizar </a:t>
            </a:r>
            <a:r>
              <a:rPr lang="es-MX" b="1" dirty="0"/>
              <a:t>Docker</a:t>
            </a:r>
            <a:r>
              <a:rPr lang="es-MX" dirty="0"/>
              <a:t> para </a:t>
            </a:r>
            <a:r>
              <a:rPr lang="es-MX" dirty="0" err="1"/>
              <a:t>contenerizar</a:t>
            </a:r>
            <a:r>
              <a:rPr lang="es-MX" dirty="0"/>
              <a:t> la instancia de SQL Server dentro del </a:t>
            </a:r>
            <a:r>
              <a:rPr lang="es-MX" i="1" dirty="0" err="1"/>
              <a:t>Droplet</a:t>
            </a:r>
            <a:r>
              <a:rPr lang="es-MX" dirty="0"/>
              <a:t>. Esto desacopla la base de datos del sistema operativo del servidor, facilitando la migración entre entornos, simplificando la gestión de dependencias y permitiendo una recuperación ante desastres más ágil mediante el reinicio de contenedores.</a:t>
            </a:r>
            <a:endParaRPr lang="es-ES" dirty="0"/>
          </a:p>
          <a:p>
            <a:pPr marL="306000" lvl="0" indent="-306000" algn="just" rtl="0"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❖"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111" name="Google Shape;1111;p40"/>
          <p:cNvSpPr txBox="1"/>
          <p:nvPr/>
        </p:nvSpPr>
        <p:spPr>
          <a:xfrm>
            <a:off x="11696007" y="6457890"/>
            <a:ext cx="4959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57</a:t>
            </a:r>
            <a:endParaRPr/>
          </a:p>
        </p:txBody>
      </p:sp>
      <p:sp>
        <p:nvSpPr>
          <p:cNvPr id="1112" name="Google Shape;1112;p4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BANQUITO</a:t>
            </a:r>
            <a:endParaRPr sz="11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 COMERCIALIZADORA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3" name="Google Shape;1113;p4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114" name="Google Shape;1114;p4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SERVIDOR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CONSOLA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ESCRITORIO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MÓVIL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CLIENTE WEB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CLIENTE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MODELO MVC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 UNITARIAS</a:t>
            </a:r>
            <a:endParaRPr/>
          </a:p>
          <a:p>
            <a:pPr marL="630000" marR="0" lvl="1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EJECUCIÓN DE LA APLICACIÓN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</a:pPr>
            <a:r>
              <a:rPr lang="es-ES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</p:txBody>
      </p:sp>
      <p:sp>
        <p:nvSpPr>
          <p:cNvPr id="1115" name="Google Shape;1115;p40"/>
          <p:cNvSpPr txBox="1"/>
          <p:nvPr/>
        </p:nvSpPr>
        <p:spPr>
          <a:xfrm>
            <a:off x="9117367" y="0"/>
            <a:ext cx="30747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 PROYECTO</a:t>
            </a:r>
            <a:endParaRPr sz="1100" b="1" dirty="0">
              <a:solidFill>
                <a:schemeClr val="lt1"/>
              </a:solidFill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Symbol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DIAGRAMAS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BASE DE DATOS</a:t>
            </a:r>
            <a:endParaRPr sz="1100" b="1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06000" marR="0" lvl="0" indent="-3232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APLICACIÓN SERVIDOR</a:t>
            </a: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CONEXIÓN BDD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CONSOLA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ESCRITORIO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WEB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APLICACIÓN MÓVIL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ESTRUCTURA DEL PROYECTO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 CLASES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PRUEBAS</a:t>
            </a:r>
            <a:endParaRPr sz="1100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100" b="1" dirty="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0"/>
              <a:buFont typeface="Gill Sans"/>
              <a:buChar char="◼"/>
            </a:pPr>
            <a:r>
              <a:rPr lang="es-ES" sz="1100" b="1" dirty="0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100" b="1" dirty="0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17453</Words>
  <Application>Microsoft Office PowerPoint</Application>
  <PresentationFormat>Panorámica</PresentationFormat>
  <Paragraphs>7057</Paragraphs>
  <Slides>77</Slides>
  <Notes>77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77</vt:i4>
      </vt:variant>
    </vt:vector>
  </HeadingPairs>
  <TitlesOfParts>
    <vt:vector size="83" baseType="lpstr">
      <vt:lpstr>Gill Sans</vt:lpstr>
      <vt:lpstr>Calibri</vt:lpstr>
      <vt:lpstr>Arial</vt:lpstr>
      <vt:lpstr>Times New Roman</vt:lpstr>
      <vt:lpstr>Noto Sans Symbols</vt:lpstr>
      <vt:lpstr>Dividendo</vt:lpstr>
      <vt:lpstr>EUREKABANK BDD NUBE REST DOTNET</vt:lpstr>
      <vt:lpstr>Presentación de PowerPoint</vt:lpstr>
      <vt:lpstr>ESTRUCTURA DEL PROYECTO</vt:lpstr>
      <vt:lpstr>DESARROLLO</vt:lpstr>
      <vt:lpstr>PARA LA ELABORACIÓN DEL PROYECTO, EN PRIMER LUGAR, SE DEBE CREAR UNA CARPETA DONDE SE ALMACENARÁN LOS ARCHIVOS NECESARIOS PARA SU FUNCIONAMIENTO.</vt:lpstr>
      <vt:lpstr>DIAGRAMAS</vt:lpstr>
      <vt:lpstr>DIAGRAMAS DIAGRAMA DE ARQUITECTURA</vt:lpstr>
      <vt:lpstr>DIAGRAMAS DIAGRAMA CASOS DE USO</vt:lpstr>
      <vt:lpstr>DIAGRAMAS DIAGRAMA ACTIVIDAD - DEPÓSITO</vt:lpstr>
      <vt:lpstr>DIAGRAMAS DIAGRAMA ACTIVIDAD - RETIRO</vt:lpstr>
      <vt:lpstr>DIAGRAMAS DIAGRAMA ACTIVIDAD - TRANSFERENCIA</vt:lpstr>
      <vt:lpstr>DIAGRAMAS DIAGRAMA SECUENCIA - DEPÓSITO</vt:lpstr>
      <vt:lpstr>DIAGRAMAS DIAGRAMA SECUENCIA - RETIRO</vt:lpstr>
      <vt:lpstr>DIAGRAMAS DIAGRAMA SECUENCIA - TRANSFERENCIA</vt:lpstr>
      <vt:lpstr>DIAGRAMAS DIAGRAMA ENTIDAD RELACIÓN - CONCEPTUAL</vt:lpstr>
      <vt:lpstr>DIAGRAMAS DIAGRAMA ENTIDAD RELACIÓN - LÓGICO</vt:lpstr>
      <vt:lpstr>DIAGRAMAS DIAGRAMA ENTIDAD RELACIÓN - FÍSICO</vt:lpstr>
      <vt:lpstr>DIAGRAMAS DIAGRAMA DE CLASES </vt:lpstr>
      <vt:lpstr>CREACIÓN BASE DE DATOS</vt:lpstr>
      <vt:lpstr>CREACIÓN DE BASE DE DATOS BASE DE DATOS</vt:lpstr>
      <vt:lpstr>CREACIÓN DE BASE DE DATOS BASE DE DATOS</vt:lpstr>
      <vt:lpstr>CREACIÓN DE BASE DE DATOS BASE DE DATOS</vt:lpstr>
      <vt:lpstr>CREACIÓN DE BASE DE DATOS BASE DE DATOS</vt:lpstr>
      <vt:lpstr>APLICACIÓN SERVIDOR EUREKABANK</vt:lpstr>
      <vt:lpstr>APLICACIONES SERVIDOR CREACIÓN DEL PROYECTO SERVIDOR EUREKABANK</vt:lpstr>
      <vt:lpstr>APLICACIONES SERVIDOR CONEXIÓN A LA BASE DE DATOS</vt:lpstr>
      <vt:lpstr>APLICACIONES SERVIDOR ESTRUCTURA DEL PROYECTO</vt:lpstr>
      <vt:lpstr>APLICACIONES SERVIDOR CREACIÓN DE MODELOS, SERVICIOS Y CONTROLADOR</vt:lpstr>
      <vt:lpstr>APLICACIONES SERVIDOR PRUEBAS DE LOS SERVICIOS</vt:lpstr>
      <vt:lpstr>APLICACIONES SERVIDOR PRUEBAS DE LOS SERVICIOS - Endpoint 1</vt:lpstr>
      <vt:lpstr>APLICACIONES SERVIDOR PRUEBAS DE LOS SERVICIOS - Endpoint 2</vt:lpstr>
      <vt:lpstr>APLICACIONES SERVIDOR PRUEBAS DE LOS SERVICIOS - Endpoint 3</vt:lpstr>
      <vt:lpstr>APLICACIONES SERVIDOR PRUEBAS DE LOS SERVICIOS - Endpoint 4</vt:lpstr>
      <vt:lpstr>APLICACIONES SERVIDOR PRUEBAS DE LOS SERVICIOS - Endpoint 5</vt:lpstr>
      <vt:lpstr>APLICACIONES SERVIDOR PRUEBAS DE LOS SERVICIOS - Endpoint 6 </vt:lpstr>
      <vt:lpstr>APLICACIÓN CLIENTE CONSOLA</vt:lpstr>
      <vt:lpstr>APLICACIÓN CLIENTE CONSOLA CREACIÓN DEL PROYECTO</vt:lpstr>
      <vt:lpstr>APLICACIÓN CLIENTE CONSOLA ESTRUCTURA DEL PROYECTO</vt:lpstr>
      <vt:lpstr>APLICACIÓN CLIENTE CONSOLA CREACIÓN DE CLASES</vt:lpstr>
      <vt:lpstr>APLICACIÓN CLIENTE CONSOLA EJECUCIÓN DEL CLIENTE CONSOLA</vt:lpstr>
      <vt:lpstr>APLICACIÓN CLIENTE CONSOLA EJECUCIÓN DEL CLIENTE CONSOLA</vt:lpstr>
      <vt:lpstr>APLICACIÓN CLIENTE CONSOLA EJECUCIÓN DEL CLIENTE CONSOLA</vt:lpstr>
      <vt:lpstr>APLICACIÓN CLIENTE CONSOLA EJECUCIÓN DEL CLIENTE CONSOLA</vt:lpstr>
      <vt:lpstr>APLICACIÓN CLIENTE CONSOLA EJECUCIÓN DEL CLIENTE CONSOLA</vt:lpstr>
      <vt:lpstr>APLICACIÓN CLIENTE CONSOLA EJECUCIÓN DEL CLIENTE CONSOLA</vt:lpstr>
      <vt:lpstr>APLICACIÓN CLIENTE ESCRITORIO</vt:lpstr>
      <vt:lpstr>APLICACIÓN CLIENTE ESCRITORIO CREACIÓN DEL PROYECTO</vt:lpstr>
      <vt:lpstr>APLICACIÓN CLIENTE ESCRITORIO ESTRUCTURA DEL PROYECTO</vt:lpstr>
      <vt:lpstr>APLICACIÓN CLIENTE ESCRITORIO CREACIÓN DE CLASES</vt:lpstr>
      <vt:lpstr>APLICACIÓN CLIENTE ESCRITORIO EJECUCIÓN DEL CLIENTE ESCRITORIO</vt:lpstr>
      <vt:lpstr>APLICACIÓN CLIENTE ESCRITORIO EJECUCIÓN DEL CLIENTE ESCRITORIO</vt:lpstr>
      <vt:lpstr>APLICACIÓN CLIENTE ESCRITORIO EJECUCIÓN DEL CLIENTE ESCRITORIO</vt:lpstr>
      <vt:lpstr>APLICACIÓN CLIENTE ESCRITORIO EJECUCIÓN DEL CLIENTE ESCRITORIO</vt:lpstr>
      <vt:lpstr>APLICACIÓN CLIENTE ESCRITORIO EJECUCIÓN DEL CLIENTE ESCRITORIO</vt:lpstr>
      <vt:lpstr>APLICACIÓN CLIENTE ESCRITORIO EJECUCIÓN DEL CLIENTE ESCRITORIO</vt:lpstr>
      <vt:lpstr>APLICACIÓN CLIENTE WEB</vt:lpstr>
      <vt:lpstr>APLICACIÓN CLIENTE WEB CREACIÓN DEL PROYECTO</vt:lpstr>
      <vt:lpstr>APLICACIÓN CLIENTE WEB ESTRUCTURA DEL PROYECTO</vt:lpstr>
      <vt:lpstr>APLICACIÓN CLIENTE WEB CREACIÓN DE CLASES</vt:lpstr>
      <vt:lpstr>APLICACIÓN CLIENTE WEB EJECUCIÓN DEL CLIENTE WEB</vt:lpstr>
      <vt:lpstr>APLICACIÓN CLIENTE WEB EJECUCIÓN DEL CLIENTE WEB</vt:lpstr>
      <vt:lpstr>APLICACIÓN CLIENTE WEB EJECUCIÓN DEL CLIENTE WEB</vt:lpstr>
      <vt:lpstr>APLICACIÓN CLIENTE WEB EJECUCIÓN DEL CLIENTE WEB</vt:lpstr>
      <vt:lpstr>APLICACIÓN CLIENTE WEB EJECUCIÓN DEL CLIENTE WEB</vt:lpstr>
      <vt:lpstr>APLICACIÓN CLIENTE WEB EJECUCIÓN DEL CLIENTE WEB</vt:lpstr>
      <vt:lpstr>APLICACIÓN CLIENTE MÓVIL</vt:lpstr>
      <vt:lpstr>APLICACIÓN CLIENTE MÓVIL CREACIÓN DEL PROYECTO</vt:lpstr>
      <vt:lpstr>APLICACIÓN CLIENTE MÓVIL ESTRUCTURA DEL PROYECTO</vt:lpstr>
      <vt:lpstr>APLICACIÓN CLIENTE MÓVIL CREACIÓN DE CLASES</vt:lpstr>
      <vt:lpstr>APLICACIÓN CLIENTE MÓVIL EJECUCIÓN DEL CLIENTE MÓVIL</vt:lpstr>
      <vt:lpstr>APLICACIÓN CLIENTE MÓVIL EJECUCIÓN DEL CLIENTE MÓVIL</vt:lpstr>
      <vt:lpstr>APLICACIÓN CLIENTE MÓVIL EJECUCIÓN DEL CLIENTE MÓVIL</vt:lpstr>
      <vt:lpstr>APLICACIÓN CLIENTE MÓVIL EJECUCIÓN DEL CLIENTE MÓVIL</vt:lpstr>
      <vt:lpstr>APLICACIÓN CLIENTE MÓVIL EJECUCIÓN DEL CLIENTE MÓVIL</vt:lpstr>
      <vt:lpstr>APLICACIÓN CLIENTE MÓVIL EJECUCIÓN DEL CLIENTE MÓVIL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Villarruel</dc:creator>
  <cp:lastModifiedBy>Nahir Carrera Vela</cp:lastModifiedBy>
  <cp:revision>5</cp:revision>
  <dcterms:created xsi:type="dcterms:W3CDTF">2020-07-10T23:33:49Z</dcterms:created>
  <dcterms:modified xsi:type="dcterms:W3CDTF">2025-12-10T15:11:36Z</dcterms:modified>
</cp:coreProperties>
</file>